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theme/themeOverride3.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66" r:id="rId5"/>
    <p:sldId id="308" r:id="rId6"/>
    <p:sldId id="309" r:id="rId7"/>
    <p:sldId id="314" r:id="rId8"/>
    <p:sldId id="310" r:id="rId9"/>
    <p:sldId id="315" r:id="rId10"/>
    <p:sldId id="311" r:id="rId11"/>
    <p:sldId id="316" r:id="rId12"/>
    <p:sldId id="312" r:id="rId13"/>
    <p:sldId id="317" r:id="rId14"/>
    <p:sldId id="313" r:id="rId15"/>
    <p:sldId id="318" r:id="rId16"/>
    <p:sldId id="319" r:id="rId17"/>
    <p:sldId id="320"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19" autoAdjust="0"/>
  </p:normalViewPr>
  <p:slideViewPr>
    <p:cSldViewPr snapToGrid="0">
      <p:cViewPr varScale="1">
        <p:scale>
          <a:sx n="70" d="100"/>
          <a:sy n="70" d="100"/>
        </p:scale>
        <p:origin x="536"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D:\Sweety\Online%20class\Project_1\Final\Final_Data_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D:\Sweety\Online%20class\Project_1\Final\Final_Data_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D:\Sweety\Online%20class\Project_1\Final\Final_Data_She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D:\Sweety\Online%20class\Project_1\Final\Final_Data_She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D:\Sweety\Online%20class\Project_1\Final\Final_Data_Sheet.xlsx" TargetMode="External"/><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[Final_Data_Sheet.xlsx]Day wise temp and atemp!PivotTable2</c:name>
    <c:fmtId val="9"/>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b="1">
                <a:solidFill>
                  <a:schemeClr val="tx1"/>
                </a:solidFill>
              </a:rPr>
              <a:t>Day wise temp and atemp</a:t>
            </a:r>
          </a:p>
        </c:rich>
      </c:tx>
      <c:overlay val="0"/>
      <c:spPr>
        <a:solidFill>
          <a:schemeClr val="bg1">
            <a:lumMod val="50000"/>
          </a:schemeClr>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'Day wise temp and atemp'!$B$1</c:f>
              <c:strCache>
                <c:ptCount val="1"/>
                <c:pt idx="0">
                  <c:v>Sum of temp</c:v>
                </c:pt>
              </c:strCache>
            </c:strRef>
          </c:tx>
          <c:spPr>
            <a:solidFill>
              <a:schemeClr val="accent1"/>
            </a:solidFill>
            <a:ln>
              <a:noFill/>
            </a:ln>
            <a:effectLst/>
          </c:spPr>
          <c:invertIfNegative val="0"/>
          <c:cat>
            <c:strRef>
              <c:f>'Day wise temp and atemp'!$A$2:$A$47</c:f>
              <c:strCache>
                <c:ptCount val="45"/>
                <c:pt idx="0">
                  <c:v>01-Jan</c:v>
                </c:pt>
                <c:pt idx="1">
                  <c:v>02-Jan</c:v>
                </c:pt>
                <c:pt idx="2">
                  <c:v>03-Jan</c:v>
                </c:pt>
                <c:pt idx="3">
                  <c:v>04-Jan</c:v>
                </c:pt>
                <c:pt idx="4">
                  <c:v>05-Jan</c:v>
                </c:pt>
                <c:pt idx="5">
                  <c:v>06-Jan</c:v>
                </c:pt>
                <c:pt idx="6">
                  <c:v>07-Jan</c:v>
                </c:pt>
                <c:pt idx="7">
                  <c:v>08-Jan</c:v>
                </c:pt>
                <c:pt idx="8">
                  <c:v>09-Jan</c:v>
                </c:pt>
                <c:pt idx="9">
                  <c:v>10-Jan</c:v>
                </c:pt>
                <c:pt idx="10">
                  <c:v>11-Jan</c:v>
                </c:pt>
                <c:pt idx="11">
                  <c:v>12-Jan</c:v>
                </c:pt>
                <c:pt idx="12">
                  <c:v>13-Jan</c:v>
                </c:pt>
                <c:pt idx="13">
                  <c:v>14-Jan</c:v>
                </c:pt>
                <c:pt idx="14">
                  <c:v>15-Jan</c:v>
                </c:pt>
                <c:pt idx="15">
                  <c:v>16-Jan</c:v>
                </c:pt>
                <c:pt idx="16">
                  <c:v>17-Jan</c:v>
                </c:pt>
                <c:pt idx="17">
                  <c:v>18-Jan</c:v>
                </c:pt>
                <c:pt idx="18">
                  <c:v>19-Jan</c:v>
                </c:pt>
                <c:pt idx="19">
                  <c:v>20-Jan</c:v>
                </c:pt>
                <c:pt idx="20">
                  <c:v>21-Jan</c:v>
                </c:pt>
                <c:pt idx="21">
                  <c:v>22-Jan</c:v>
                </c:pt>
                <c:pt idx="22">
                  <c:v>23-Jan</c:v>
                </c:pt>
                <c:pt idx="23">
                  <c:v>24-Jan</c:v>
                </c:pt>
                <c:pt idx="24">
                  <c:v>25-Jan</c:v>
                </c:pt>
                <c:pt idx="25">
                  <c:v>26-Jan</c:v>
                </c:pt>
                <c:pt idx="26">
                  <c:v>27-Jan</c:v>
                </c:pt>
                <c:pt idx="27">
                  <c:v>28-Jan</c:v>
                </c:pt>
                <c:pt idx="28">
                  <c:v>29-Jan</c:v>
                </c:pt>
                <c:pt idx="29">
                  <c:v>30-Jan</c:v>
                </c:pt>
                <c:pt idx="30">
                  <c:v>31-Jan</c:v>
                </c:pt>
                <c:pt idx="31">
                  <c:v>01-Feb</c:v>
                </c:pt>
                <c:pt idx="32">
                  <c:v>02-Feb</c:v>
                </c:pt>
                <c:pt idx="33">
                  <c:v>03-Feb</c:v>
                </c:pt>
                <c:pt idx="34">
                  <c:v>04-Feb</c:v>
                </c:pt>
                <c:pt idx="35">
                  <c:v>05-Feb</c:v>
                </c:pt>
                <c:pt idx="36">
                  <c:v>06-Feb</c:v>
                </c:pt>
                <c:pt idx="37">
                  <c:v>07-Feb</c:v>
                </c:pt>
                <c:pt idx="38">
                  <c:v>08-Feb</c:v>
                </c:pt>
                <c:pt idx="39">
                  <c:v>09-Feb</c:v>
                </c:pt>
                <c:pt idx="40">
                  <c:v>10-Feb</c:v>
                </c:pt>
                <c:pt idx="41">
                  <c:v>11-Feb</c:v>
                </c:pt>
                <c:pt idx="42">
                  <c:v>12-Feb</c:v>
                </c:pt>
                <c:pt idx="43">
                  <c:v>13-Feb</c:v>
                </c:pt>
                <c:pt idx="44">
                  <c:v>14-Feb</c:v>
                </c:pt>
              </c:strCache>
            </c:strRef>
          </c:cat>
          <c:val>
            <c:numRef>
              <c:f>'Day wise temp and atemp'!$B$2:$B$47</c:f>
              <c:numCache>
                <c:formatCode>General</c:formatCode>
                <c:ptCount val="45"/>
                <c:pt idx="0">
                  <c:v>8.2600000000000016</c:v>
                </c:pt>
                <c:pt idx="1">
                  <c:v>8.3600000000000012</c:v>
                </c:pt>
                <c:pt idx="2">
                  <c:v>4.3199999999999994</c:v>
                </c:pt>
                <c:pt idx="3">
                  <c:v>4.5999999999999996</c:v>
                </c:pt>
                <c:pt idx="4">
                  <c:v>5.22</c:v>
                </c:pt>
                <c:pt idx="5">
                  <c:v>4.7</c:v>
                </c:pt>
                <c:pt idx="6">
                  <c:v>4.5200000000000014</c:v>
                </c:pt>
                <c:pt idx="7">
                  <c:v>3.9600000000000013</c:v>
                </c:pt>
                <c:pt idx="8">
                  <c:v>3.3200000000000012</c:v>
                </c:pt>
                <c:pt idx="9">
                  <c:v>3.6200000000000014</c:v>
                </c:pt>
                <c:pt idx="10">
                  <c:v>3.7200000000000015</c:v>
                </c:pt>
                <c:pt idx="11">
                  <c:v>3.8000000000000012</c:v>
                </c:pt>
                <c:pt idx="12">
                  <c:v>3.9600000000000017</c:v>
                </c:pt>
                <c:pt idx="13">
                  <c:v>3.7000000000000011</c:v>
                </c:pt>
                <c:pt idx="14">
                  <c:v>5.6</c:v>
                </c:pt>
                <c:pt idx="15">
                  <c:v>5.5600000000000005</c:v>
                </c:pt>
                <c:pt idx="16">
                  <c:v>4.2200000000000015</c:v>
                </c:pt>
                <c:pt idx="17">
                  <c:v>2.6000000000000005</c:v>
                </c:pt>
                <c:pt idx="18">
                  <c:v>6.7200000000000006</c:v>
                </c:pt>
                <c:pt idx="19">
                  <c:v>6.28</c:v>
                </c:pt>
                <c:pt idx="20">
                  <c:v>4.2600000000000007</c:v>
                </c:pt>
                <c:pt idx="21">
                  <c:v>1.36</c:v>
                </c:pt>
                <c:pt idx="22">
                  <c:v>2.2200000000000002</c:v>
                </c:pt>
                <c:pt idx="23">
                  <c:v>2.2400000000000007</c:v>
                </c:pt>
                <c:pt idx="24">
                  <c:v>5.1399999999999988</c:v>
                </c:pt>
                <c:pt idx="25">
                  <c:v>3.4800000000000009</c:v>
                </c:pt>
                <c:pt idx="26">
                  <c:v>1.5599999999999998</c:v>
                </c:pt>
                <c:pt idx="27">
                  <c:v>4.6800000000000015</c:v>
                </c:pt>
                <c:pt idx="28">
                  <c:v>4.5200000000000005</c:v>
                </c:pt>
                <c:pt idx="29">
                  <c:v>4.9799999999999995</c:v>
                </c:pt>
                <c:pt idx="30">
                  <c:v>4.3400000000000007</c:v>
                </c:pt>
                <c:pt idx="31">
                  <c:v>4.4200000000000008</c:v>
                </c:pt>
                <c:pt idx="32">
                  <c:v>6.24</c:v>
                </c:pt>
                <c:pt idx="33">
                  <c:v>4.3000000000000016</c:v>
                </c:pt>
                <c:pt idx="34">
                  <c:v>4.8600000000000012</c:v>
                </c:pt>
                <c:pt idx="35">
                  <c:v>5.6000000000000005</c:v>
                </c:pt>
                <c:pt idx="36">
                  <c:v>6.8599999999999994</c:v>
                </c:pt>
                <c:pt idx="37">
                  <c:v>6.52</c:v>
                </c:pt>
                <c:pt idx="38">
                  <c:v>5.3000000000000016</c:v>
                </c:pt>
                <c:pt idx="39">
                  <c:v>3.1000000000000005</c:v>
                </c:pt>
                <c:pt idx="40">
                  <c:v>3.3200000000000012</c:v>
                </c:pt>
                <c:pt idx="41">
                  <c:v>4.16</c:v>
                </c:pt>
                <c:pt idx="42">
                  <c:v>5.339999999999999</c:v>
                </c:pt>
                <c:pt idx="43">
                  <c:v>7.2800000000000011</c:v>
                </c:pt>
                <c:pt idx="44">
                  <c:v>2.78</c:v>
                </c:pt>
              </c:numCache>
            </c:numRef>
          </c:val>
          <c:extLst>
            <c:ext xmlns:c16="http://schemas.microsoft.com/office/drawing/2014/chart" uri="{C3380CC4-5D6E-409C-BE32-E72D297353CC}">
              <c16:uniqueId val="{00000000-2D96-4AE0-BE64-BC3391112D4F}"/>
            </c:ext>
          </c:extLst>
        </c:ser>
        <c:dLbls>
          <c:showLegendKey val="0"/>
          <c:showVal val="0"/>
          <c:showCatName val="0"/>
          <c:showSerName val="0"/>
          <c:showPercent val="0"/>
          <c:showBubbleSize val="0"/>
        </c:dLbls>
        <c:gapWidth val="219"/>
        <c:axId val="1725125711"/>
        <c:axId val="1725121871"/>
      </c:barChart>
      <c:lineChart>
        <c:grouping val="standard"/>
        <c:varyColors val="0"/>
        <c:ser>
          <c:idx val="1"/>
          <c:order val="1"/>
          <c:tx>
            <c:strRef>
              <c:f>'Day wise temp and atemp'!$C$1</c:f>
              <c:strCache>
                <c:ptCount val="1"/>
                <c:pt idx="0">
                  <c:v>Sum of atemp</c:v>
                </c:pt>
              </c:strCache>
            </c:strRef>
          </c:tx>
          <c:spPr>
            <a:ln w="28575" cap="rnd">
              <a:solidFill>
                <a:schemeClr val="accent2"/>
              </a:solidFill>
              <a:round/>
            </a:ln>
            <a:effectLst/>
          </c:spPr>
          <c:marker>
            <c:symbol val="none"/>
          </c:marker>
          <c:cat>
            <c:strRef>
              <c:f>'Day wise temp and atemp'!$A$2:$A$47</c:f>
              <c:strCache>
                <c:ptCount val="45"/>
                <c:pt idx="0">
                  <c:v>01-Jan</c:v>
                </c:pt>
                <c:pt idx="1">
                  <c:v>02-Jan</c:v>
                </c:pt>
                <c:pt idx="2">
                  <c:v>03-Jan</c:v>
                </c:pt>
                <c:pt idx="3">
                  <c:v>04-Jan</c:v>
                </c:pt>
                <c:pt idx="4">
                  <c:v>05-Jan</c:v>
                </c:pt>
                <c:pt idx="5">
                  <c:v>06-Jan</c:v>
                </c:pt>
                <c:pt idx="6">
                  <c:v>07-Jan</c:v>
                </c:pt>
                <c:pt idx="7">
                  <c:v>08-Jan</c:v>
                </c:pt>
                <c:pt idx="8">
                  <c:v>09-Jan</c:v>
                </c:pt>
                <c:pt idx="9">
                  <c:v>10-Jan</c:v>
                </c:pt>
                <c:pt idx="10">
                  <c:v>11-Jan</c:v>
                </c:pt>
                <c:pt idx="11">
                  <c:v>12-Jan</c:v>
                </c:pt>
                <c:pt idx="12">
                  <c:v>13-Jan</c:v>
                </c:pt>
                <c:pt idx="13">
                  <c:v>14-Jan</c:v>
                </c:pt>
                <c:pt idx="14">
                  <c:v>15-Jan</c:v>
                </c:pt>
                <c:pt idx="15">
                  <c:v>16-Jan</c:v>
                </c:pt>
                <c:pt idx="16">
                  <c:v>17-Jan</c:v>
                </c:pt>
                <c:pt idx="17">
                  <c:v>18-Jan</c:v>
                </c:pt>
                <c:pt idx="18">
                  <c:v>19-Jan</c:v>
                </c:pt>
                <c:pt idx="19">
                  <c:v>20-Jan</c:v>
                </c:pt>
                <c:pt idx="20">
                  <c:v>21-Jan</c:v>
                </c:pt>
                <c:pt idx="21">
                  <c:v>22-Jan</c:v>
                </c:pt>
                <c:pt idx="22">
                  <c:v>23-Jan</c:v>
                </c:pt>
                <c:pt idx="23">
                  <c:v>24-Jan</c:v>
                </c:pt>
                <c:pt idx="24">
                  <c:v>25-Jan</c:v>
                </c:pt>
                <c:pt idx="25">
                  <c:v>26-Jan</c:v>
                </c:pt>
                <c:pt idx="26">
                  <c:v>27-Jan</c:v>
                </c:pt>
                <c:pt idx="27">
                  <c:v>28-Jan</c:v>
                </c:pt>
                <c:pt idx="28">
                  <c:v>29-Jan</c:v>
                </c:pt>
                <c:pt idx="29">
                  <c:v>30-Jan</c:v>
                </c:pt>
                <c:pt idx="30">
                  <c:v>31-Jan</c:v>
                </c:pt>
                <c:pt idx="31">
                  <c:v>01-Feb</c:v>
                </c:pt>
                <c:pt idx="32">
                  <c:v>02-Feb</c:v>
                </c:pt>
                <c:pt idx="33">
                  <c:v>03-Feb</c:v>
                </c:pt>
                <c:pt idx="34">
                  <c:v>04-Feb</c:v>
                </c:pt>
                <c:pt idx="35">
                  <c:v>05-Feb</c:v>
                </c:pt>
                <c:pt idx="36">
                  <c:v>06-Feb</c:v>
                </c:pt>
                <c:pt idx="37">
                  <c:v>07-Feb</c:v>
                </c:pt>
                <c:pt idx="38">
                  <c:v>08-Feb</c:v>
                </c:pt>
                <c:pt idx="39">
                  <c:v>09-Feb</c:v>
                </c:pt>
                <c:pt idx="40">
                  <c:v>10-Feb</c:v>
                </c:pt>
                <c:pt idx="41">
                  <c:v>11-Feb</c:v>
                </c:pt>
                <c:pt idx="42">
                  <c:v>12-Feb</c:v>
                </c:pt>
                <c:pt idx="43">
                  <c:v>13-Feb</c:v>
                </c:pt>
                <c:pt idx="44">
                  <c:v>14-Feb</c:v>
                </c:pt>
              </c:strCache>
            </c:strRef>
          </c:cat>
          <c:val>
            <c:numRef>
              <c:f>'Day wise temp and atemp'!$C$2:$C$47</c:f>
              <c:numCache>
                <c:formatCode>General</c:formatCode>
                <c:ptCount val="45"/>
                <c:pt idx="0">
                  <c:v>8.6058500000000002</c:v>
                </c:pt>
                <c:pt idx="1">
                  <c:v>8.2875000000000014</c:v>
                </c:pt>
                <c:pt idx="2">
                  <c:v>4.2426000000000004</c:v>
                </c:pt>
                <c:pt idx="3">
                  <c:v>4.9394</c:v>
                </c:pt>
                <c:pt idx="4">
                  <c:v>5.2732000000000001</c:v>
                </c:pt>
                <c:pt idx="5">
                  <c:v>5.3638000000000012</c:v>
                </c:pt>
                <c:pt idx="6">
                  <c:v>4.8033000000000001</c:v>
                </c:pt>
                <c:pt idx="7">
                  <c:v>3.8941000000000003</c:v>
                </c:pt>
                <c:pt idx="8">
                  <c:v>2.7882000000000007</c:v>
                </c:pt>
                <c:pt idx="9">
                  <c:v>3.6213000000000002</c:v>
                </c:pt>
                <c:pt idx="10">
                  <c:v>4.2122000000000002</c:v>
                </c:pt>
                <c:pt idx="11">
                  <c:v>3.5304000000000002</c:v>
                </c:pt>
                <c:pt idx="12">
                  <c:v>3.6212</c:v>
                </c:pt>
                <c:pt idx="13">
                  <c:v>4.3334999999999999</c:v>
                </c:pt>
                <c:pt idx="14">
                  <c:v>5.9546999999999999</c:v>
                </c:pt>
                <c:pt idx="15">
                  <c:v>5.6212000000000009</c:v>
                </c:pt>
                <c:pt idx="16">
                  <c:v>4.2425000000000006</c:v>
                </c:pt>
                <c:pt idx="17">
                  <c:v>2.7880000000000003</c:v>
                </c:pt>
                <c:pt idx="18">
                  <c:v>6.8637000000000006</c:v>
                </c:pt>
                <c:pt idx="19">
                  <c:v>6.1212</c:v>
                </c:pt>
                <c:pt idx="20">
                  <c:v>3.7880000000000003</c:v>
                </c:pt>
                <c:pt idx="21">
                  <c:v>1.8186000000000002</c:v>
                </c:pt>
                <c:pt idx="22">
                  <c:v>2.2733000000000003</c:v>
                </c:pt>
                <c:pt idx="23">
                  <c:v>2.7124000000000006</c:v>
                </c:pt>
                <c:pt idx="24">
                  <c:v>5.3940999999999981</c:v>
                </c:pt>
                <c:pt idx="25">
                  <c:v>3.2576000000000001</c:v>
                </c:pt>
                <c:pt idx="26">
                  <c:v>1.7576000000000001</c:v>
                </c:pt>
                <c:pt idx="27">
                  <c:v>5.1362999999999994</c:v>
                </c:pt>
                <c:pt idx="28">
                  <c:v>4.8789000000000016</c:v>
                </c:pt>
                <c:pt idx="29">
                  <c:v>5.7573999999999996</c:v>
                </c:pt>
                <c:pt idx="30">
                  <c:v>4.4700000000000006</c:v>
                </c:pt>
                <c:pt idx="31">
                  <c:v>5.3941999999999997</c:v>
                </c:pt>
                <c:pt idx="32">
                  <c:v>6.1059999999999999</c:v>
                </c:pt>
                <c:pt idx="33">
                  <c:v>4.0911999999999997</c:v>
                </c:pt>
                <c:pt idx="34">
                  <c:v>5.2574999999999994</c:v>
                </c:pt>
                <c:pt idx="35">
                  <c:v>5.8334000000000001</c:v>
                </c:pt>
                <c:pt idx="36">
                  <c:v>7.0000999999999971</c:v>
                </c:pt>
                <c:pt idx="37">
                  <c:v>7.2878000000000007</c:v>
                </c:pt>
                <c:pt idx="38">
                  <c:v>4.7578999999999994</c:v>
                </c:pt>
                <c:pt idx="39">
                  <c:v>3.3185000000000002</c:v>
                </c:pt>
                <c:pt idx="40">
                  <c:v>3.4396</c:v>
                </c:pt>
                <c:pt idx="41">
                  <c:v>4.6971999999999996</c:v>
                </c:pt>
                <c:pt idx="42">
                  <c:v>5.5908999999999995</c:v>
                </c:pt>
                <c:pt idx="43">
                  <c:v>7.4546000000000028</c:v>
                </c:pt>
                <c:pt idx="44">
                  <c:v>2.6513</c:v>
                </c:pt>
              </c:numCache>
            </c:numRef>
          </c:val>
          <c:smooth val="0"/>
          <c:extLst>
            <c:ext xmlns:c16="http://schemas.microsoft.com/office/drawing/2014/chart" uri="{C3380CC4-5D6E-409C-BE32-E72D297353CC}">
              <c16:uniqueId val="{00000001-2D96-4AE0-BE64-BC3391112D4F}"/>
            </c:ext>
          </c:extLst>
        </c:ser>
        <c:dLbls>
          <c:showLegendKey val="0"/>
          <c:showVal val="0"/>
          <c:showCatName val="0"/>
          <c:showSerName val="0"/>
          <c:showPercent val="0"/>
          <c:showBubbleSize val="0"/>
        </c:dLbls>
        <c:marker val="1"/>
        <c:smooth val="0"/>
        <c:axId val="1725125711"/>
        <c:axId val="1725121871"/>
      </c:lineChart>
      <c:catAx>
        <c:axId val="1725125711"/>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5121871"/>
        <c:crosses val="autoZero"/>
        <c:auto val="1"/>
        <c:lblAlgn val="ctr"/>
        <c:lblOffset val="100"/>
        <c:noMultiLvlLbl val="0"/>
      </c:catAx>
      <c:valAx>
        <c:axId val="1725121871"/>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725125711"/>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alpha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[Final_Data_Sheet.xlsx]Day wise hrs data!Day wise sum hrs</c:name>
    <c:fmtId val="1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b="1">
                <a:solidFill>
                  <a:sysClr val="windowText" lastClr="000000"/>
                </a:solidFill>
              </a:rPr>
              <a:t>Day wise total Hrs</a:t>
            </a:r>
          </a:p>
        </c:rich>
      </c:tx>
      <c:layout>
        <c:manualLayout>
          <c:xMode val="edge"/>
          <c:yMode val="edge"/>
          <c:x val="0.34753455818022749"/>
          <c:y val="4.5275590551181105E-2"/>
        </c:manualLayout>
      </c:layout>
      <c:overlay val="0"/>
      <c:spPr>
        <a:solidFill>
          <a:schemeClr val="bg1">
            <a:lumMod val="50000"/>
          </a:schemeClr>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1"/>
          </a:solidFill>
          <a:ln w="28575" cap="rnd">
            <a:solidFill>
              <a:schemeClr val="accent1"/>
            </a:solidFill>
            <a:round/>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lineChart>
        <c:grouping val="standard"/>
        <c:varyColors val="0"/>
        <c:ser>
          <c:idx val="0"/>
          <c:order val="0"/>
          <c:tx>
            <c:strRef>
              <c:f>'Day wise hrs data'!$B$2</c:f>
              <c:strCache>
                <c:ptCount val="1"/>
                <c:pt idx="0">
                  <c:v>Total</c:v>
                </c:pt>
              </c:strCache>
            </c:strRef>
          </c:tx>
          <c:spPr>
            <a:ln w="28575" cap="rnd">
              <a:solidFill>
                <a:schemeClr val="accent1"/>
              </a:solidFill>
              <a:round/>
            </a:ln>
            <a:effectLst/>
          </c:spPr>
          <c:marker>
            <c:symbol val="none"/>
          </c:marker>
          <c:cat>
            <c:strRef>
              <c:f>'Day wise hrs data'!$A$3:$A$47</c:f>
              <c:strCache>
                <c:ptCount val="45"/>
                <c:pt idx="0">
                  <c:v>01-Jan</c:v>
                </c:pt>
                <c:pt idx="1">
                  <c:v>02-Jan</c:v>
                </c:pt>
                <c:pt idx="2">
                  <c:v>03-Jan</c:v>
                </c:pt>
                <c:pt idx="3">
                  <c:v>04-Jan</c:v>
                </c:pt>
                <c:pt idx="4">
                  <c:v>05-Jan</c:v>
                </c:pt>
                <c:pt idx="5">
                  <c:v>06-Jan</c:v>
                </c:pt>
                <c:pt idx="6">
                  <c:v>07-Jan</c:v>
                </c:pt>
                <c:pt idx="7">
                  <c:v>08-Jan</c:v>
                </c:pt>
                <c:pt idx="8">
                  <c:v>09-Jan</c:v>
                </c:pt>
                <c:pt idx="9">
                  <c:v>10-Jan</c:v>
                </c:pt>
                <c:pt idx="10">
                  <c:v>11-Jan</c:v>
                </c:pt>
                <c:pt idx="11">
                  <c:v>12-Jan</c:v>
                </c:pt>
                <c:pt idx="12">
                  <c:v>13-Jan</c:v>
                </c:pt>
                <c:pt idx="13">
                  <c:v>14-Jan</c:v>
                </c:pt>
                <c:pt idx="14">
                  <c:v>15-Jan</c:v>
                </c:pt>
                <c:pt idx="15">
                  <c:v>16-Jan</c:v>
                </c:pt>
                <c:pt idx="16">
                  <c:v>17-Jan</c:v>
                </c:pt>
                <c:pt idx="17">
                  <c:v>18-Jan</c:v>
                </c:pt>
                <c:pt idx="18">
                  <c:v>19-Jan</c:v>
                </c:pt>
                <c:pt idx="19">
                  <c:v>20-Jan</c:v>
                </c:pt>
                <c:pt idx="20">
                  <c:v>21-Jan</c:v>
                </c:pt>
                <c:pt idx="21">
                  <c:v>22-Jan</c:v>
                </c:pt>
                <c:pt idx="22">
                  <c:v>23-Jan</c:v>
                </c:pt>
                <c:pt idx="23">
                  <c:v>24-Jan</c:v>
                </c:pt>
                <c:pt idx="24">
                  <c:v>25-Jan</c:v>
                </c:pt>
                <c:pt idx="25">
                  <c:v>26-Jan</c:v>
                </c:pt>
                <c:pt idx="26">
                  <c:v>27-Jan</c:v>
                </c:pt>
                <c:pt idx="27">
                  <c:v>28-Jan</c:v>
                </c:pt>
                <c:pt idx="28">
                  <c:v>29-Jan</c:v>
                </c:pt>
                <c:pt idx="29">
                  <c:v>30-Jan</c:v>
                </c:pt>
                <c:pt idx="30">
                  <c:v>31-Jan</c:v>
                </c:pt>
                <c:pt idx="31">
                  <c:v>01-Feb</c:v>
                </c:pt>
                <c:pt idx="32">
                  <c:v>02-Feb</c:v>
                </c:pt>
                <c:pt idx="33">
                  <c:v>03-Feb</c:v>
                </c:pt>
                <c:pt idx="34">
                  <c:v>04-Feb</c:v>
                </c:pt>
                <c:pt idx="35">
                  <c:v>05-Feb</c:v>
                </c:pt>
                <c:pt idx="36">
                  <c:v>06-Feb</c:v>
                </c:pt>
                <c:pt idx="37">
                  <c:v>07-Feb</c:v>
                </c:pt>
                <c:pt idx="38">
                  <c:v>08-Feb</c:v>
                </c:pt>
                <c:pt idx="39">
                  <c:v>09-Feb</c:v>
                </c:pt>
                <c:pt idx="40">
                  <c:v>10-Feb</c:v>
                </c:pt>
                <c:pt idx="41">
                  <c:v>11-Feb</c:v>
                </c:pt>
                <c:pt idx="42">
                  <c:v>12-Feb</c:v>
                </c:pt>
                <c:pt idx="43">
                  <c:v>13-Feb</c:v>
                </c:pt>
                <c:pt idx="44">
                  <c:v>14-Feb</c:v>
                </c:pt>
              </c:strCache>
            </c:strRef>
          </c:cat>
          <c:val>
            <c:numRef>
              <c:f>'Day wise hrs data'!$B$3:$B$47</c:f>
              <c:numCache>
                <c:formatCode>General</c:formatCode>
                <c:ptCount val="45"/>
                <c:pt idx="0">
                  <c:v>276</c:v>
                </c:pt>
                <c:pt idx="1">
                  <c:v>271</c:v>
                </c:pt>
                <c:pt idx="2">
                  <c:v>271</c:v>
                </c:pt>
                <c:pt idx="3">
                  <c:v>273</c:v>
                </c:pt>
                <c:pt idx="4">
                  <c:v>273</c:v>
                </c:pt>
                <c:pt idx="5">
                  <c:v>273</c:v>
                </c:pt>
                <c:pt idx="6">
                  <c:v>273</c:v>
                </c:pt>
                <c:pt idx="7">
                  <c:v>276</c:v>
                </c:pt>
                <c:pt idx="8">
                  <c:v>276</c:v>
                </c:pt>
                <c:pt idx="9">
                  <c:v>276</c:v>
                </c:pt>
                <c:pt idx="10">
                  <c:v>269</c:v>
                </c:pt>
                <c:pt idx="11">
                  <c:v>269</c:v>
                </c:pt>
                <c:pt idx="12">
                  <c:v>276</c:v>
                </c:pt>
                <c:pt idx="13">
                  <c:v>272</c:v>
                </c:pt>
                <c:pt idx="14">
                  <c:v>276</c:v>
                </c:pt>
                <c:pt idx="15">
                  <c:v>276</c:v>
                </c:pt>
                <c:pt idx="16">
                  <c:v>276</c:v>
                </c:pt>
                <c:pt idx="17">
                  <c:v>210</c:v>
                </c:pt>
                <c:pt idx="18">
                  <c:v>273</c:v>
                </c:pt>
                <c:pt idx="19">
                  <c:v>276</c:v>
                </c:pt>
                <c:pt idx="20">
                  <c:v>276</c:v>
                </c:pt>
                <c:pt idx="21">
                  <c:v>271</c:v>
                </c:pt>
                <c:pt idx="22">
                  <c:v>272</c:v>
                </c:pt>
                <c:pt idx="23">
                  <c:v>274</c:v>
                </c:pt>
                <c:pt idx="24">
                  <c:v>273</c:v>
                </c:pt>
                <c:pt idx="25">
                  <c:v>146</c:v>
                </c:pt>
                <c:pt idx="26">
                  <c:v>156</c:v>
                </c:pt>
                <c:pt idx="27">
                  <c:v>272</c:v>
                </c:pt>
                <c:pt idx="28">
                  <c:v>271</c:v>
                </c:pt>
                <c:pt idx="29">
                  <c:v>270</c:v>
                </c:pt>
                <c:pt idx="30">
                  <c:v>276</c:v>
                </c:pt>
                <c:pt idx="31">
                  <c:v>272</c:v>
                </c:pt>
                <c:pt idx="32">
                  <c:v>276</c:v>
                </c:pt>
                <c:pt idx="33">
                  <c:v>272</c:v>
                </c:pt>
                <c:pt idx="34">
                  <c:v>272</c:v>
                </c:pt>
                <c:pt idx="35">
                  <c:v>276</c:v>
                </c:pt>
                <c:pt idx="36">
                  <c:v>276</c:v>
                </c:pt>
                <c:pt idx="37">
                  <c:v>276</c:v>
                </c:pt>
                <c:pt idx="38">
                  <c:v>276</c:v>
                </c:pt>
                <c:pt idx="39">
                  <c:v>272</c:v>
                </c:pt>
                <c:pt idx="40">
                  <c:v>273</c:v>
                </c:pt>
                <c:pt idx="41">
                  <c:v>269</c:v>
                </c:pt>
                <c:pt idx="42">
                  <c:v>276</c:v>
                </c:pt>
                <c:pt idx="43">
                  <c:v>271</c:v>
                </c:pt>
                <c:pt idx="44">
                  <c:v>28</c:v>
                </c:pt>
              </c:numCache>
            </c:numRef>
          </c:val>
          <c:smooth val="0"/>
          <c:extLst>
            <c:ext xmlns:c16="http://schemas.microsoft.com/office/drawing/2014/chart" uri="{C3380CC4-5D6E-409C-BE32-E72D297353CC}">
              <c16:uniqueId val="{00000000-39E9-4C93-8F8E-94254C7ED9A3}"/>
            </c:ext>
          </c:extLst>
        </c:ser>
        <c:dLbls>
          <c:showLegendKey val="0"/>
          <c:showVal val="0"/>
          <c:showCatName val="0"/>
          <c:showSerName val="0"/>
          <c:showPercent val="0"/>
          <c:showBubbleSize val="0"/>
        </c:dLbls>
        <c:smooth val="0"/>
        <c:axId val="761200415"/>
        <c:axId val="761200895"/>
      </c:lineChart>
      <c:catAx>
        <c:axId val="761200415"/>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1200895"/>
        <c:crosses val="autoZero"/>
        <c:auto val="1"/>
        <c:lblAlgn val="ctr"/>
        <c:lblOffset val="100"/>
        <c:noMultiLvlLbl val="0"/>
      </c:catAx>
      <c:valAx>
        <c:axId val="761200895"/>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761200415"/>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alpha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sVisible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[Final_Data_Sheet.xlsx]Month Wise Data!Month wise temp</c:name>
    <c:fmtId val="1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IN" sz="1200" b="1">
                <a:solidFill>
                  <a:schemeClr val="tx1">
                    <a:lumMod val="95000"/>
                    <a:lumOff val="5000"/>
                  </a:schemeClr>
                </a:solidFill>
              </a:rPr>
              <a:t>Month wise Temp</a:t>
            </a:r>
          </a:p>
        </c:rich>
      </c:tx>
      <c:overlay val="0"/>
      <c:spPr>
        <a:solidFill>
          <a:schemeClr val="bg1">
            <a:lumMod val="50000"/>
          </a:schemeClr>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9"/>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s>
    <c:plotArea>
      <c:layout>
        <c:manualLayout>
          <c:layoutTarget val="inner"/>
          <c:xMode val="edge"/>
          <c:yMode val="edge"/>
          <c:x val="0.26429332461038807"/>
          <c:y val="0.30244034381198531"/>
          <c:w val="0.68822893058249024"/>
          <c:h val="0.4809617118470878"/>
        </c:manualLayout>
      </c:layout>
      <c:barChart>
        <c:barDir val="col"/>
        <c:grouping val="clustered"/>
        <c:varyColors val="0"/>
        <c:ser>
          <c:idx val="0"/>
          <c:order val="0"/>
          <c:tx>
            <c:strRef>
              <c:f>'Month Wise Data'!$K$3</c:f>
              <c:strCache>
                <c:ptCount val="1"/>
                <c:pt idx="0">
                  <c:v>Sum of temp</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 Wise Data'!$J$4:$J$5</c:f>
              <c:strCache>
                <c:ptCount val="2"/>
                <c:pt idx="0">
                  <c:v>Jan</c:v>
                </c:pt>
                <c:pt idx="1">
                  <c:v>Feb</c:v>
                </c:pt>
              </c:strCache>
            </c:strRef>
          </c:cat>
          <c:val>
            <c:numRef>
              <c:f>'Month Wise Data'!$K$4:$K$5</c:f>
              <c:numCache>
                <c:formatCode>General</c:formatCode>
                <c:ptCount val="2"/>
                <c:pt idx="0">
                  <c:v>135.82000000000005</c:v>
                </c:pt>
                <c:pt idx="1">
                  <c:v>70.080000000000027</c:v>
                </c:pt>
              </c:numCache>
            </c:numRef>
          </c:val>
          <c:extLst>
            <c:ext xmlns:c16="http://schemas.microsoft.com/office/drawing/2014/chart" uri="{C3380CC4-5D6E-409C-BE32-E72D297353CC}">
              <c16:uniqueId val="{00000000-498E-485E-9039-543ED97343E8}"/>
            </c:ext>
          </c:extLst>
        </c:ser>
        <c:ser>
          <c:idx val="1"/>
          <c:order val="1"/>
          <c:tx>
            <c:strRef>
              <c:f>'Month Wise Data'!$L$3</c:f>
              <c:strCache>
                <c:ptCount val="1"/>
                <c:pt idx="0">
                  <c:v>Sum of Avg.Temp</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 Wise Data'!$J$4:$J$5</c:f>
              <c:strCache>
                <c:ptCount val="2"/>
                <c:pt idx="0">
                  <c:v>Jan</c:v>
                </c:pt>
                <c:pt idx="1">
                  <c:v>Feb</c:v>
                </c:pt>
              </c:strCache>
            </c:strRef>
          </c:cat>
          <c:val>
            <c:numRef>
              <c:f>'Month Wise Data'!$L$4:$L$5</c:f>
              <c:numCache>
                <c:formatCode>General</c:formatCode>
                <c:ptCount val="2"/>
                <c:pt idx="0">
                  <c:v>140.35205000000022</c:v>
                </c:pt>
                <c:pt idx="1">
                  <c:v>72.880199999999974</c:v>
                </c:pt>
              </c:numCache>
            </c:numRef>
          </c:val>
          <c:extLst>
            <c:ext xmlns:c16="http://schemas.microsoft.com/office/drawing/2014/chart" uri="{C3380CC4-5D6E-409C-BE32-E72D297353CC}">
              <c16:uniqueId val="{00000001-498E-485E-9039-543ED97343E8}"/>
            </c:ext>
          </c:extLst>
        </c:ser>
        <c:dLbls>
          <c:dLblPos val="outEnd"/>
          <c:showLegendKey val="0"/>
          <c:showVal val="1"/>
          <c:showCatName val="0"/>
          <c:showSerName val="0"/>
          <c:showPercent val="0"/>
          <c:showBubbleSize val="0"/>
        </c:dLbls>
        <c:gapWidth val="219"/>
        <c:axId val="1073053376"/>
        <c:axId val="1073052416"/>
      </c:barChart>
      <c:catAx>
        <c:axId val="1073053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3052416"/>
        <c:crosses val="autoZero"/>
        <c:auto val="1"/>
        <c:lblAlgn val="ctr"/>
        <c:lblOffset val="100"/>
        <c:noMultiLvlLbl val="0"/>
      </c:catAx>
      <c:valAx>
        <c:axId val="1073052416"/>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3053376"/>
        <c:crosses val="autoZero"/>
        <c:crossBetween val="between"/>
      </c:valAx>
      <c:dTable>
        <c:showHorzBorder val="1"/>
        <c:showVertBorder val="1"/>
        <c:showOutline val="1"/>
        <c:showKeys val="1"/>
        <c:spPr>
          <a:noFill/>
          <a:ln w="9525" cap="flat" cmpd="sng" algn="ctr">
            <a:solidFill>
              <a:schemeClr val="tx1">
                <a:lumMod val="15000"/>
                <a:lumOff val="85000"/>
              </a:schemeClr>
            </a:solidFill>
            <a:round/>
          </a:ln>
          <a:effectLst/>
        </c:spPr>
        <c:txPr>
          <a:bodyPr rot="0" spcFirstLastPara="1" vertOverflow="ellipsis" vert="horz" wrap="square" anchor="ctr" anchorCtr="1"/>
          <a:lstStyle/>
          <a:p>
            <a:pPr rtl="0">
              <a:defRPr sz="900" b="0" i="0" u="none" strike="noStrike" kern="1200" baseline="0">
                <a:solidFill>
                  <a:schemeClr val="tx1">
                    <a:lumMod val="65000"/>
                    <a:lumOff val="35000"/>
                  </a:schemeClr>
                </a:solidFill>
                <a:latin typeface="+mn-lt"/>
                <a:ea typeface="+mn-ea"/>
                <a:cs typeface="+mn-cs"/>
              </a:defRPr>
            </a:pPr>
            <a:endParaRPr lang="en-US"/>
          </a:p>
        </c:txPr>
      </c:dTable>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alpha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[Final_Data_Sheet.xlsx]Month Wise Data!PivotTable2</c:name>
    <c:fmtId val="8"/>
  </c:pivotSource>
  <c:chart>
    <c:title>
      <c:tx>
        <c:rich>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r>
              <a:rPr lang="en-US" sz="1200" b="1">
                <a:solidFill>
                  <a:schemeClr val="tx1">
                    <a:lumMod val="95000"/>
                    <a:lumOff val="5000"/>
                  </a:schemeClr>
                </a:solidFill>
              </a:rPr>
              <a:t>Month wise Registered</a:t>
            </a:r>
          </a:p>
        </c:rich>
      </c:tx>
      <c:layout>
        <c:manualLayout>
          <c:xMode val="edge"/>
          <c:yMode val="edge"/>
          <c:x val="0.28163875199053356"/>
          <c:y val="5.98136242144044E-2"/>
        </c:manualLayout>
      </c:layout>
      <c:overlay val="0"/>
      <c:spPr>
        <a:solidFill>
          <a:schemeClr val="bg1">
            <a:lumMod val="50000"/>
          </a:schemeClr>
        </a:solidFill>
        <a:ln>
          <a:noFill/>
        </a:ln>
        <a:effectLst/>
      </c:spPr>
      <c:txPr>
        <a:bodyPr rot="0" spcFirstLastPara="1" vertOverflow="ellipsis" vert="horz" wrap="square" anchor="ctr" anchorCtr="1"/>
        <a:lstStyle/>
        <a:p>
          <a:pPr>
            <a:defRPr sz="12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pPr>
            <a:solidFill>
              <a:schemeClr val="accent1"/>
            </a:solidFill>
            <a:ln w="9525">
              <a:solidFill>
                <a:schemeClr val="accent1"/>
              </a:solidFill>
            </a:ln>
            <a:effectLst/>
          </c:spPr>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1"/>
          <c:showVal val="1"/>
          <c:showCatName val="1"/>
          <c:showSerName val="1"/>
          <c:showPercent val="1"/>
          <c:showBubbleSize val="1"/>
          <c:extLst>
            <c:ext xmlns:c15="http://schemas.microsoft.com/office/drawing/2012/chart" uri="{CE6537A1-D6FC-4f65-9D91-7224C49458BB}"/>
          </c:extLst>
        </c:dLbl>
      </c:pivotFmt>
      <c:pivotFmt>
        <c:idx val="1"/>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3"/>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4"/>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6"/>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
        <c:idx val="7"/>
        <c:spPr>
          <a:solidFill>
            <a:schemeClr val="accent1"/>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'Month Wise Data'!$G$3</c:f>
              <c:strCache>
                <c:ptCount val="1"/>
                <c:pt idx="0">
                  <c:v>Total</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'Month Wise Data'!$F$4:$F$5</c:f>
              <c:strCache>
                <c:ptCount val="2"/>
                <c:pt idx="0">
                  <c:v>Jan</c:v>
                </c:pt>
                <c:pt idx="1">
                  <c:v>Feb</c:v>
                </c:pt>
              </c:strCache>
            </c:strRef>
          </c:cat>
          <c:val>
            <c:numRef>
              <c:f>'Month Wise Data'!$G$4:$G$5</c:f>
              <c:numCache>
                <c:formatCode>General</c:formatCode>
                <c:ptCount val="2"/>
                <c:pt idx="0">
                  <c:v>35116</c:v>
                </c:pt>
                <c:pt idx="1">
                  <c:v>18267</c:v>
                </c:pt>
              </c:numCache>
            </c:numRef>
          </c:val>
          <c:extLst>
            <c:ext xmlns:c16="http://schemas.microsoft.com/office/drawing/2014/chart" uri="{C3380CC4-5D6E-409C-BE32-E72D297353CC}">
              <c16:uniqueId val="{00000000-73EB-4827-A40B-12F9808FDE89}"/>
            </c:ext>
          </c:extLst>
        </c:ser>
        <c:dLbls>
          <c:dLblPos val="outEnd"/>
          <c:showLegendKey val="0"/>
          <c:showVal val="1"/>
          <c:showCatName val="0"/>
          <c:showSerName val="0"/>
          <c:showPercent val="0"/>
          <c:showBubbleSize val="0"/>
        </c:dLbls>
        <c:gapWidth val="219"/>
        <c:overlap val="-27"/>
        <c:axId val="1073078816"/>
        <c:axId val="1073078336"/>
      </c:barChart>
      <c:catAx>
        <c:axId val="1073078816"/>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3078336"/>
        <c:crosses val="autoZero"/>
        <c:auto val="1"/>
        <c:lblAlgn val="ctr"/>
        <c:lblOffset val="100"/>
        <c:noMultiLvlLbl val="0"/>
      </c:catAx>
      <c:valAx>
        <c:axId val="1073078336"/>
        <c:scaling>
          <c:orientation val="minMax"/>
        </c:scaling>
        <c:delete val="0"/>
        <c:axPos val="l"/>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7307881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alpha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[Final_Data_Sheet.xlsx]Month Wise Data!Month Wise Hrs</c:name>
    <c:fmtId val="1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200" b="1">
                <a:solidFill>
                  <a:schemeClr val="tx1">
                    <a:lumMod val="95000"/>
                    <a:lumOff val="5000"/>
                  </a:schemeClr>
                </a:solidFill>
              </a:rPr>
              <a:t>Month wise total hrs</a:t>
            </a:r>
          </a:p>
        </c:rich>
      </c:tx>
      <c:overlay val="0"/>
      <c:spPr>
        <a:solidFill>
          <a:schemeClr val="bg1">
            <a:lumMod val="50000"/>
          </a:schemeClr>
        </a:solid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2"/>
        <c:spPr>
          <a:solidFill>
            <a:schemeClr val="accent1"/>
          </a:solidFill>
          <a:ln>
            <a:noFill/>
          </a:ln>
          <a:effectLst/>
        </c:spPr>
      </c:pivotFmt>
      <c:pivotFmt>
        <c:idx val="3"/>
        <c:spPr>
          <a:solidFill>
            <a:schemeClr val="accent1"/>
          </a:solidFill>
          <a:ln>
            <a:noFill/>
          </a:ln>
          <a:effectLst/>
        </c:spPr>
      </c:pivotFmt>
      <c:pivotFmt>
        <c:idx val="4"/>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5"/>
        <c:spPr>
          <a:solidFill>
            <a:schemeClr val="accent1"/>
          </a:solidFill>
          <a:ln>
            <a:noFill/>
          </a:ln>
          <a:effectLst/>
        </c:spPr>
      </c:pivotFmt>
      <c:pivotFmt>
        <c:idx val="6"/>
        <c:spPr>
          <a:solidFill>
            <a:schemeClr val="accent1"/>
          </a:solidFill>
          <a:ln>
            <a:noFill/>
          </a:ln>
          <a:effectLst/>
        </c:spPr>
      </c:pivotFmt>
      <c:pivotFmt>
        <c:idx val="7"/>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8"/>
        <c:spPr>
          <a:solidFill>
            <a:schemeClr val="accent1"/>
          </a:solidFill>
          <a:ln>
            <a:noFill/>
          </a:ln>
          <a:effectLst/>
        </c:spPr>
      </c:pivotFmt>
      <c:pivotFmt>
        <c:idx val="9"/>
        <c:spPr>
          <a:solidFill>
            <a:schemeClr val="accent1"/>
          </a:solidFill>
          <a:ln>
            <a:noFill/>
          </a:ln>
          <a:effectLst/>
        </c:spPr>
      </c:pivotFmt>
      <c:pivotFmt>
        <c:idx val="10"/>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1"/>
        <c:spPr>
          <a:solidFill>
            <a:schemeClr val="accent1"/>
          </a:solidFill>
          <a:ln>
            <a:noFill/>
          </a:ln>
          <a:effectLst/>
        </c:spPr>
      </c:pivotFmt>
      <c:pivotFmt>
        <c:idx val="12"/>
        <c:spPr>
          <a:solidFill>
            <a:schemeClr val="accent1"/>
          </a:solidFill>
          <a:ln>
            <a:noFill/>
          </a:ln>
          <a:effectLst/>
        </c:spPr>
      </c:pivotFmt>
      <c:pivotFmt>
        <c:idx val="13"/>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4"/>
        <c:spPr>
          <a:solidFill>
            <a:schemeClr val="accent1"/>
          </a:solidFill>
          <a:ln>
            <a:noFill/>
          </a:ln>
          <a:effectLst/>
        </c:spPr>
      </c:pivotFmt>
      <c:pivotFmt>
        <c:idx val="15"/>
        <c:spPr>
          <a:solidFill>
            <a:schemeClr val="accent1"/>
          </a:solidFill>
          <a:ln>
            <a:noFill/>
          </a:ln>
          <a:effectLst/>
        </c:spPr>
      </c:pivotFmt>
      <c:pivotFmt>
        <c:idx val="16"/>
        <c:spPr>
          <a:solidFill>
            <a:schemeClr val="accent1"/>
          </a:solidFill>
          <a:ln>
            <a:noFill/>
          </a:ln>
          <a:effectLst/>
        </c:spPr>
        <c:marker>
          <c:symbol val="none"/>
        </c:marker>
        <c:dLbl>
          <c:idx val="0"/>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extLst>
            <c:ext xmlns:c15="http://schemas.microsoft.com/office/drawing/2012/chart" uri="{CE6537A1-D6FC-4f65-9D91-7224C49458BB}">
              <c15:spPr xmlns:c15="http://schemas.microsoft.com/office/drawing/2012/chart">
                <a:prstGeom prst="wedgeRectCallout">
                  <a:avLst/>
                </a:prstGeom>
                <a:noFill/>
                <a:ln>
                  <a:noFill/>
                </a:ln>
              </c15:spPr>
            </c:ext>
          </c:extLst>
        </c:dLbl>
      </c:pivotFmt>
      <c:pivotFmt>
        <c:idx val="17"/>
        <c:spPr>
          <a:solidFill>
            <a:schemeClr val="accent1"/>
          </a:solidFill>
          <a:ln>
            <a:noFill/>
          </a:ln>
          <a:effectLst/>
        </c:spPr>
      </c:pivotFmt>
      <c:pivotFmt>
        <c:idx val="18"/>
        <c:spPr>
          <a:solidFill>
            <a:schemeClr val="accent1"/>
          </a:solidFill>
          <a:ln>
            <a:noFill/>
          </a:ln>
          <a:effectLst/>
        </c:spPr>
      </c:pivotFmt>
    </c:pivotFmts>
    <c:plotArea>
      <c:layout/>
      <c:pieChart>
        <c:varyColors val="1"/>
        <c:ser>
          <c:idx val="0"/>
          <c:order val="0"/>
          <c:tx>
            <c:strRef>
              <c:f>'Month Wise Data'!$B$3</c:f>
              <c:strCache>
                <c:ptCount val="1"/>
                <c:pt idx="0">
                  <c:v>Total</c:v>
                </c:pt>
              </c:strCache>
            </c:strRef>
          </c:tx>
          <c:dPt>
            <c:idx val="0"/>
            <c:bubble3D val="0"/>
            <c:spPr>
              <a:solidFill>
                <a:schemeClr val="accent1"/>
              </a:solidFill>
              <a:ln>
                <a:noFill/>
              </a:ln>
              <a:effectLst/>
            </c:spPr>
            <c:extLst>
              <c:ext xmlns:c16="http://schemas.microsoft.com/office/drawing/2014/chart" uri="{C3380CC4-5D6E-409C-BE32-E72D297353CC}">
                <c16:uniqueId val="{00000001-2B8F-40F2-8148-609849FF7FDC}"/>
              </c:ext>
            </c:extLst>
          </c:dPt>
          <c:dPt>
            <c:idx val="1"/>
            <c:bubble3D val="0"/>
            <c:spPr>
              <a:solidFill>
                <a:schemeClr val="accent2"/>
              </a:solidFill>
              <a:ln>
                <a:noFill/>
              </a:ln>
              <a:effectLst/>
            </c:spPr>
            <c:extLst>
              <c:ext xmlns:c16="http://schemas.microsoft.com/office/drawing/2014/chart" uri="{C3380CC4-5D6E-409C-BE32-E72D297353CC}">
                <c16:uniqueId val="{00000003-2B8F-40F2-8148-609849FF7FDC}"/>
              </c:ext>
            </c:extLst>
          </c:dPt>
          <c:dLbls>
            <c:numFmt formatCode="General" sourceLinked="0"/>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dLblPos val="ctr"/>
            <c:showLegendKey val="0"/>
            <c:showVal val="0"/>
            <c:showCatName val="1"/>
            <c:showSerName val="0"/>
            <c:showPercent val="1"/>
            <c:showBubbleSize val="0"/>
            <c:separator>
</c:separator>
            <c:showLeaderLines val="0"/>
            <c:extLst>
              <c:ext xmlns:c15="http://schemas.microsoft.com/office/drawing/2012/chart" uri="{CE6537A1-D6FC-4f65-9D91-7224C49458BB}">
                <c15:spPr xmlns:c15="http://schemas.microsoft.com/office/drawing/2012/chart">
                  <a:prstGeom prst="wedgeRectCallout">
                    <a:avLst/>
                  </a:prstGeom>
                  <a:noFill/>
                  <a:ln>
                    <a:noFill/>
                  </a:ln>
                </c15:spPr>
              </c:ext>
            </c:extLst>
          </c:dLbls>
          <c:cat>
            <c:strRef>
              <c:f>'Month Wise Data'!$A$4:$A$5</c:f>
              <c:strCache>
                <c:ptCount val="2"/>
                <c:pt idx="0">
                  <c:v>Jan</c:v>
                </c:pt>
                <c:pt idx="1">
                  <c:v>Feb</c:v>
                </c:pt>
              </c:strCache>
            </c:strRef>
          </c:cat>
          <c:val>
            <c:numRef>
              <c:f>'Month Wise Data'!$B$4:$B$5</c:f>
              <c:numCache>
                <c:formatCode>General</c:formatCode>
                <c:ptCount val="2"/>
                <c:pt idx="0">
                  <c:v>8168</c:v>
                </c:pt>
                <c:pt idx="1">
                  <c:v>3585</c:v>
                </c:pt>
              </c:numCache>
            </c:numRef>
          </c:val>
          <c:extLst>
            <c:ext xmlns:c16="http://schemas.microsoft.com/office/drawing/2014/chart" uri="{C3380CC4-5D6E-409C-BE32-E72D297353CC}">
              <c16:uniqueId val="{00000004-2B8F-40F2-8148-609849FF7FDC}"/>
            </c:ext>
          </c:extLst>
        </c:ser>
        <c:dLbls>
          <c:showLegendKey val="0"/>
          <c:showVal val="0"/>
          <c:showCatName val="0"/>
          <c:showSerName val="0"/>
          <c:showPercent val="0"/>
          <c:showBubbleSize val="0"/>
          <c:showLeaderLines val="0"/>
        </c:dLbls>
        <c:firstSliceAng val="0"/>
      </c:pie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lumMod val="85000"/>
        <a:alpha val="50000"/>
      </a:schemeClr>
    </a:solidFill>
    <a:ln w="9525" cap="flat" cmpd="sng" algn="ctr">
      <a:solidFill>
        <a:schemeClr val="tx1">
          <a:lumMod val="15000"/>
          <a:lumOff val="85000"/>
        </a:schemeClr>
      </a:solidFill>
      <a:round/>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39E3965E-AC41-4711-9D10-E25ABB132D86}"/>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90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645152"/>
            <a:ext cx="10058400" cy="1143000"/>
          </a:xfrm>
        </p:spPr>
        <p:txBody>
          <a:bodyPr lIns="91440" rIns="91440">
            <a:normAutofit/>
          </a:bodyPr>
          <a:lstStyle>
            <a:lvl1pPr marL="0" indent="0" algn="l">
              <a:buNone/>
              <a:defRPr sz="2400" cap="all" spc="200" baseline="0">
                <a:solidFill>
                  <a:schemeClr val="tx1"/>
                </a:solidFill>
                <a:latin typeface="+mn-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cxnSp>
        <p:nvCxnSpPr>
          <p:cNvPr id="9" name="Straight Connector 8">
            <a:extLst>
              <a:ext uri="{FF2B5EF4-FFF2-40B4-BE49-F238E27FC236}">
                <a16:creationId xmlns:a16="http://schemas.microsoft.com/office/drawing/2014/main" id="{1F5DC8C3-BA5F-4EED-BB9A-A14272BD82A1}"/>
              </a:ext>
            </a:extLst>
          </p:cNvPr>
          <p:cNvCxnSpPr/>
          <p:nvPr/>
        </p:nvCxnSpPr>
        <p:spPr>
          <a:xfrm>
            <a:off x="1207658" y="4474741"/>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4" name="Date Placeholder 3">
            <a:extLst>
              <a:ext uri="{FF2B5EF4-FFF2-40B4-BE49-F238E27FC236}">
                <a16:creationId xmlns:a16="http://schemas.microsoft.com/office/drawing/2014/main" id="{9925CCF1-92C0-4AF3-BFAF-4921631915AB}"/>
              </a:ext>
            </a:extLst>
          </p:cNvPr>
          <p:cNvSpPr>
            <a:spLocks noGrp="1"/>
          </p:cNvSpPr>
          <p:nvPr>
            <p:ph type="dt" sz="half" idx="10"/>
          </p:nvPr>
        </p:nvSpPr>
        <p:spPr/>
        <p:txBody>
          <a:bodyPr/>
          <a:lstStyle/>
          <a:p>
            <a:fld id="{9184DA70-C731-4C70-880D-CCD4705E623C}" type="datetime1">
              <a:rPr lang="en-US" smtClean="0"/>
              <a:t>3/24/2026</a:t>
            </a:fld>
            <a:endParaRPr lang="en-US" dirty="0"/>
          </a:p>
        </p:txBody>
      </p:sp>
      <p:sp>
        <p:nvSpPr>
          <p:cNvPr id="5" name="Footer Placeholder 4">
            <a:extLst>
              <a:ext uri="{FF2B5EF4-FFF2-40B4-BE49-F238E27FC236}">
                <a16:creationId xmlns:a16="http://schemas.microsoft.com/office/drawing/2014/main" id="{051A78A9-3DFF-4937-A9F2-5D8CF495F36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5FAEB271-5CC0-4759-BC6E-8BE53AB227C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872932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54D8B55-9EA8-4B81-8E84-9B93B0A27559}"/>
              </a:ext>
            </a:extLst>
          </p:cNvPr>
          <p:cNvSpPr>
            <a:spLocks noGrp="1"/>
          </p:cNvSpPr>
          <p:nvPr>
            <p:ph type="dt" sz="half" idx="10"/>
          </p:nvPr>
        </p:nvSpPr>
        <p:spPr/>
        <p:txBody>
          <a:bodyPr/>
          <a:lstStyle/>
          <a:p>
            <a:fld id="{4BE1D723-8F53-4F53-90B0-1982A396982E}" type="datetime1">
              <a:rPr lang="en-US" smtClean="0"/>
              <a:t>3/24/2026</a:t>
            </a:fld>
            <a:endParaRPr lang="en-US" dirty="0"/>
          </a:p>
        </p:txBody>
      </p:sp>
      <p:sp>
        <p:nvSpPr>
          <p:cNvPr id="8" name="Footer Placeholder 7">
            <a:extLst>
              <a:ext uri="{FF2B5EF4-FFF2-40B4-BE49-F238E27FC236}">
                <a16:creationId xmlns:a16="http://schemas.microsoft.com/office/drawing/2014/main" id="{062CA021-2578-47CB-822C-BDDFF7223B28}"/>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C4AAB51D-4141-4682-9375-DAFD5FB9DD1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2389807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585C21A-8B93-4657-B5DF-7EAEAD3BE127}"/>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90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663440"/>
            <a:ext cx="10058400" cy="1143000"/>
          </a:xfrm>
        </p:spPr>
        <p:txBody>
          <a:bodyPr lIns="91440" rIns="91440" anchor="t" anchorCtr="0">
            <a:normAutofit/>
          </a:bodyPr>
          <a:lstStyle>
            <a:lvl1pPr marL="0" indent="0">
              <a:buNone/>
              <a:defRPr sz="2400" cap="all" spc="200" baseline="0">
                <a:solidFill>
                  <a:schemeClr val="tx1"/>
                </a:solidFill>
                <a:latin typeface="+mn-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cxnSp>
        <p:nvCxnSpPr>
          <p:cNvPr id="9" name="Straight Connector 8">
            <a:extLst>
              <a:ext uri="{FF2B5EF4-FFF2-40B4-BE49-F238E27FC236}">
                <a16:creationId xmlns:a16="http://schemas.microsoft.com/office/drawing/2014/main" id="{459DE2C1-4C52-40A3-8959-27B2C1BEBFF6}"/>
              </a:ext>
            </a:extLst>
          </p:cNvPr>
          <p:cNvCxnSpPr/>
          <p:nvPr/>
        </p:nvCxnSpPr>
        <p:spPr>
          <a:xfrm>
            <a:off x="1207658" y="4485132"/>
            <a:ext cx="98755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7" name="Date Placeholder 6">
            <a:extLst>
              <a:ext uri="{FF2B5EF4-FFF2-40B4-BE49-F238E27FC236}">
                <a16:creationId xmlns:a16="http://schemas.microsoft.com/office/drawing/2014/main" id="{AAF2E137-EC28-48F8-9198-1F02539029B6}"/>
              </a:ext>
            </a:extLst>
          </p:cNvPr>
          <p:cNvSpPr>
            <a:spLocks noGrp="1"/>
          </p:cNvSpPr>
          <p:nvPr>
            <p:ph type="dt" sz="half" idx="10"/>
          </p:nvPr>
        </p:nvSpPr>
        <p:spPr/>
        <p:txBody>
          <a:bodyPr/>
          <a:lstStyle/>
          <a:p>
            <a:fld id="{97669AF7-7BEB-44E4-9852-375E34362B5B}" type="datetime1">
              <a:rPr lang="en-US" smtClean="0"/>
              <a:t>3/24/2026</a:t>
            </a:fld>
            <a:endParaRPr lang="en-US" dirty="0"/>
          </a:p>
        </p:txBody>
      </p:sp>
      <p:sp>
        <p:nvSpPr>
          <p:cNvPr id="8" name="Footer Placeholder 7">
            <a:extLst>
              <a:ext uri="{FF2B5EF4-FFF2-40B4-BE49-F238E27FC236}">
                <a16:creationId xmlns:a16="http://schemas.microsoft.com/office/drawing/2014/main" id="{189422CD-6F62-4DD6-89EF-07A60B42D219}"/>
              </a:ext>
            </a:extLst>
          </p:cNvPr>
          <p:cNvSpPr>
            <a:spLocks noGrp="1"/>
          </p:cNvSpPr>
          <p:nvPr>
            <p:ph type="ftr" sz="quarter" idx="11"/>
          </p:nvPr>
        </p:nvSpPr>
        <p:spPr/>
        <p:txBody>
          <a:bodyPr/>
          <a:lstStyle/>
          <a:p>
            <a:endParaRPr lang="en-US" dirty="0"/>
          </a:p>
        </p:txBody>
      </p:sp>
      <p:sp>
        <p:nvSpPr>
          <p:cNvPr id="11" name="Slide Number Placeholder 10">
            <a:extLst>
              <a:ext uri="{FF2B5EF4-FFF2-40B4-BE49-F238E27FC236}">
                <a16:creationId xmlns:a16="http://schemas.microsoft.com/office/drawing/2014/main" id="{69C6AFF8-42B4-4D05-969B-9F5FB3355555}"/>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82233144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2120900"/>
            <a:ext cx="4639736" cy="37481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15944" y="2120900"/>
            <a:ext cx="4639736" cy="374819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5782D47D-B0DC-4C40-BCC6-BBBA32584A38}"/>
              </a:ext>
            </a:extLst>
          </p:cNvPr>
          <p:cNvSpPr>
            <a:spLocks noGrp="1"/>
          </p:cNvSpPr>
          <p:nvPr>
            <p:ph type="dt" sz="half" idx="10"/>
          </p:nvPr>
        </p:nvSpPr>
        <p:spPr/>
        <p:txBody>
          <a:bodyPr/>
          <a:lstStyle/>
          <a:p>
            <a:fld id="{BAAAC38D-0552-4C82-B593-E6124DFADBE2}" type="datetime1">
              <a:rPr lang="en-US" smtClean="0"/>
              <a:t>3/24/2026</a:t>
            </a:fld>
            <a:endParaRPr lang="en-US" dirty="0"/>
          </a:p>
        </p:txBody>
      </p:sp>
      <p:sp>
        <p:nvSpPr>
          <p:cNvPr id="9" name="Footer Placeholder 8">
            <a:extLst>
              <a:ext uri="{FF2B5EF4-FFF2-40B4-BE49-F238E27FC236}">
                <a16:creationId xmlns:a16="http://schemas.microsoft.com/office/drawing/2014/main" id="{4690D34E-7EBD-44B2-83CA-4C126A18D7EF}"/>
              </a:ext>
            </a:extLst>
          </p:cNvPr>
          <p:cNvSpPr>
            <a:spLocks noGrp="1"/>
          </p:cNvSpPr>
          <p:nvPr>
            <p:ph type="ftr" sz="quarter" idx="11"/>
          </p:nvPr>
        </p:nvSpPr>
        <p:spPr/>
        <p:txBody>
          <a:bodyPr/>
          <a:lstStyle/>
          <a:p>
            <a:endParaRPr lang="en-US" dirty="0"/>
          </a:p>
        </p:txBody>
      </p:sp>
      <p:sp>
        <p:nvSpPr>
          <p:cNvPr id="10" name="Slide Number Placeholder 9">
            <a:extLst>
              <a:ext uri="{FF2B5EF4-FFF2-40B4-BE49-F238E27FC236}">
                <a16:creationId xmlns:a16="http://schemas.microsoft.com/office/drawing/2014/main" id="{2AC511A1-9BBD-42DE-92FB-2AF44F8E97A9}"/>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576118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958274"/>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15944" y="2057400"/>
            <a:ext cx="4639736" cy="736282"/>
          </a:xfrm>
        </p:spPr>
        <p:txBody>
          <a:bodyPr lIns="91440" rIns="91440" anchor="ctr">
            <a:normAutofit/>
          </a:bodyPr>
          <a:lstStyle>
            <a:lvl1pPr marL="0" indent="0">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515944" y="2958273"/>
            <a:ext cx="4639736" cy="29108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a:extLst>
              <a:ext uri="{FF2B5EF4-FFF2-40B4-BE49-F238E27FC236}">
                <a16:creationId xmlns:a16="http://schemas.microsoft.com/office/drawing/2014/main" id="{8AF8A515-AA94-45D1-9223-5C2272618D85}"/>
              </a:ext>
            </a:extLst>
          </p:cNvPr>
          <p:cNvSpPr>
            <a:spLocks noGrp="1"/>
          </p:cNvSpPr>
          <p:nvPr>
            <p:ph type="dt" sz="half" idx="10"/>
          </p:nvPr>
        </p:nvSpPr>
        <p:spPr/>
        <p:txBody>
          <a:bodyPr/>
          <a:lstStyle/>
          <a:p>
            <a:fld id="{D9DF0F1C-5577-4ACB-BB62-DF8F3C494C7E}" type="datetime1">
              <a:rPr lang="en-US" smtClean="0"/>
              <a:t>3/24/2026</a:t>
            </a:fld>
            <a:endParaRPr lang="en-US" dirty="0"/>
          </a:p>
        </p:txBody>
      </p:sp>
      <p:sp>
        <p:nvSpPr>
          <p:cNvPr id="11" name="Footer Placeholder 10">
            <a:extLst>
              <a:ext uri="{FF2B5EF4-FFF2-40B4-BE49-F238E27FC236}">
                <a16:creationId xmlns:a16="http://schemas.microsoft.com/office/drawing/2014/main" id="{D052F5BC-98E0-4D60-AD67-9547738B7DD4}"/>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A38552DC-952E-41EA-AAAF-C2187523C0B0}"/>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8028083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7392073F-158F-44A3-8913-917AFFC1BC20}"/>
              </a:ext>
            </a:extLst>
          </p:cNvPr>
          <p:cNvSpPr>
            <a:spLocks noGrp="1"/>
          </p:cNvSpPr>
          <p:nvPr>
            <p:ph type="dt" sz="half" idx="10"/>
          </p:nvPr>
        </p:nvSpPr>
        <p:spPr/>
        <p:txBody>
          <a:bodyPr/>
          <a:lstStyle/>
          <a:p>
            <a:fld id="{1775B394-D9F9-4F0C-B15D-605F45CB9E9F}" type="datetime1">
              <a:rPr lang="en-US" smtClean="0"/>
              <a:t>3/24/2026</a:t>
            </a:fld>
            <a:endParaRPr lang="en-US" dirty="0"/>
          </a:p>
        </p:txBody>
      </p:sp>
      <p:sp>
        <p:nvSpPr>
          <p:cNvPr id="7" name="Footer Placeholder 6">
            <a:extLst>
              <a:ext uri="{FF2B5EF4-FFF2-40B4-BE49-F238E27FC236}">
                <a16:creationId xmlns:a16="http://schemas.microsoft.com/office/drawing/2014/main" id="{EED72207-24CA-42B7-A975-2F8E41CBA904}"/>
              </a:ext>
            </a:extLst>
          </p:cNvPr>
          <p:cNvSpPr>
            <a:spLocks noGrp="1"/>
          </p:cNvSpPr>
          <p:nvPr>
            <p:ph type="ftr" sz="quarter" idx="11"/>
          </p:nvPr>
        </p:nvSpPr>
        <p:spPr/>
        <p:txBody>
          <a:bodyPr/>
          <a:lstStyle/>
          <a:p>
            <a:endParaRPr lang="en-US" dirty="0"/>
          </a:p>
        </p:txBody>
      </p:sp>
      <p:sp>
        <p:nvSpPr>
          <p:cNvPr id="8" name="Slide Number Placeholder 7">
            <a:extLst>
              <a:ext uri="{FF2B5EF4-FFF2-40B4-BE49-F238E27FC236}">
                <a16:creationId xmlns:a16="http://schemas.microsoft.com/office/drawing/2014/main" id="{D01080F2-251A-4B88-9A62-16F46D724F83}"/>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501771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8E9C91B-7EAD-4562-AB0E-DFB9663AECE3}"/>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a:extLst>
              <a:ext uri="{FF2B5EF4-FFF2-40B4-BE49-F238E27FC236}">
                <a16:creationId xmlns:a16="http://schemas.microsoft.com/office/drawing/2014/main" id="{94E9223F-721F-47BF-9FD5-0F8D12FF0DE1}"/>
              </a:ext>
            </a:extLst>
          </p:cNvPr>
          <p:cNvSpPr>
            <a:spLocks noGrp="1"/>
          </p:cNvSpPr>
          <p:nvPr>
            <p:ph type="dt" sz="half" idx="10"/>
          </p:nvPr>
        </p:nvSpPr>
        <p:spPr/>
        <p:txBody>
          <a:bodyPr/>
          <a:lstStyle/>
          <a:p>
            <a:fld id="{39667345-2558-425A-8533-9BFDBCE15005}" type="datetime1">
              <a:rPr lang="en-US" smtClean="0"/>
              <a:t>3/24/2026</a:t>
            </a:fld>
            <a:endParaRPr lang="en-US" dirty="0"/>
          </a:p>
        </p:txBody>
      </p:sp>
      <p:sp>
        <p:nvSpPr>
          <p:cNvPr id="3" name="Footer Placeholder 2">
            <a:extLst>
              <a:ext uri="{FF2B5EF4-FFF2-40B4-BE49-F238E27FC236}">
                <a16:creationId xmlns:a16="http://schemas.microsoft.com/office/drawing/2014/main" id="{05915714-6BBA-4593-8591-4E26F7D58D9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BE06F857-D2E1-44DD-ABDD-EBB739645B67}"/>
              </a:ext>
            </a:extLst>
          </p:cNvPr>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07016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6D90D66-BCB9-4229-A829-628874352AC0}"/>
              </a:ext>
            </a:extLst>
          </p:cNvPr>
          <p:cNvSpPr/>
          <p:nvPr/>
        </p:nvSpPr>
        <p:spPr>
          <a:xfrm>
            <a:off x="16" y="0"/>
            <a:ext cx="4654296" cy="68580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43466" y="786383"/>
            <a:ext cx="3517567" cy="2093975"/>
          </a:xfrm>
        </p:spPr>
        <p:txBody>
          <a:bodyPr anchor="b">
            <a:normAutofit/>
          </a:bodyPr>
          <a:lstStyle>
            <a:lvl1pPr>
              <a:lnSpc>
                <a:spcPct val="90000"/>
              </a:lnSpc>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5458984" y="812799"/>
            <a:ext cx="5928344" cy="52947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43465" y="3043050"/>
            <a:ext cx="3517567" cy="3064505"/>
          </a:xfrm>
        </p:spPr>
        <p:txBody>
          <a:bodyPr lIns="91440" rIns="91440">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643464" y="6446520"/>
            <a:ext cx="3517568" cy="365125"/>
          </a:xfrm>
        </p:spPr>
        <p:txBody>
          <a:bodyPr/>
          <a:lstStyle>
            <a:lvl1pPr algn="l">
              <a:defRPr/>
            </a:lvl1pPr>
          </a:lstStyle>
          <a:p>
            <a:fld id="{92BEA474-078D-4E9B-9B14-09A87B19DC46}" type="datetime1">
              <a:rPr lang="en-US" smtClean="0"/>
              <a:t>3/24/2026</a:t>
            </a:fld>
            <a:endParaRPr lang="en-US" dirty="0"/>
          </a:p>
        </p:txBody>
      </p:sp>
      <p:sp>
        <p:nvSpPr>
          <p:cNvPr id="6" name="Footer Placeholder 5"/>
          <p:cNvSpPr>
            <a:spLocks noGrp="1"/>
          </p:cNvSpPr>
          <p:nvPr>
            <p:ph type="ftr" sz="quarter" idx="11"/>
          </p:nvPr>
        </p:nvSpPr>
        <p:spPr>
          <a:xfrm>
            <a:off x="5458983" y="6446520"/>
            <a:ext cx="5334019" cy="365125"/>
          </a:xfrm>
        </p:spPr>
        <p:txBody>
          <a:bodyPr/>
          <a:lstStyle>
            <a:lvl1pPr algn="l">
              <a:defRPr>
                <a:solidFill>
                  <a:schemeClr val="tx2"/>
                </a:solidFill>
              </a:defRPr>
            </a:lvl1pPr>
          </a:lstStyle>
          <a:p>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8013020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DA134939-39C0-4522-A125-A13DFDA66490}"/>
              </a:ext>
            </a:extLst>
          </p:cNvPr>
          <p:cNvSpPr/>
          <p:nvPr/>
        </p:nvSpPr>
        <p:spPr>
          <a:xfrm>
            <a:off x="0" y="4578350"/>
            <a:ext cx="12188825" cy="227965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15" y="0"/>
            <a:ext cx="12191985" cy="4578350"/>
          </a:xfrm>
          <a:solidFill>
            <a:schemeClr val="bg1">
              <a:lumMod val="85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2" name="Title 1"/>
          <p:cNvSpPr>
            <a:spLocks noGrp="1"/>
          </p:cNvSpPr>
          <p:nvPr>
            <p:ph type="title"/>
          </p:nvPr>
        </p:nvSpPr>
        <p:spPr>
          <a:xfrm>
            <a:off x="1097279" y="4799362"/>
            <a:ext cx="10113645" cy="743682"/>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4" name="Text Placeholder 3"/>
          <p:cNvSpPr>
            <a:spLocks noGrp="1"/>
          </p:cNvSpPr>
          <p:nvPr>
            <p:ph type="body" sz="half" idx="2"/>
          </p:nvPr>
        </p:nvSpPr>
        <p:spPr>
          <a:xfrm>
            <a:off x="1097279" y="5715000"/>
            <a:ext cx="10113264" cy="609600"/>
          </a:xfrm>
        </p:spPr>
        <p:txBody>
          <a:bodyPr lIns="91440" tIns="0" rIns="91440" bIns="0">
            <a:normAutofit/>
          </a:bodyPr>
          <a:lstStyle>
            <a:lvl1pPr marL="0" indent="0">
              <a:spcBef>
                <a:spcPts val="0"/>
              </a:spcBef>
              <a:spcAft>
                <a:spcPts val="600"/>
              </a:spcAft>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4907D986-8816-4272-A432-0437A28A9828}" type="datetime1">
              <a:rPr lang="en-US" smtClean="0"/>
              <a:t>3/24/2026</a:t>
            </a:fld>
            <a:endParaRPr lang="en-US" dirty="0"/>
          </a:p>
        </p:txBody>
      </p:sp>
      <p:sp>
        <p:nvSpPr>
          <p:cNvPr id="6" name="Footer Placeholder 5"/>
          <p:cNvSpPr>
            <a:spLocks noGrp="1"/>
          </p:cNvSpPr>
          <p:nvPr>
            <p:ph type="ftr" sz="quarter" idx="11"/>
          </p:nvPr>
        </p:nvSpPr>
        <p:spPr>
          <a:xfrm>
            <a:off x="1097279" y="6446838"/>
            <a:ext cx="6818262" cy="365125"/>
          </a:xfrm>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58826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16A0E3C-60E6-4F39-BC55-5F7C224E1F7C}"/>
              </a:ext>
            </a:extLst>
          </p:cNvPr>
          <p:cNvSpPr/>
          <p:nvPr/>
        </p:nvSpPr>
        <p:spPr>
          <a:xfrm>
            <a:off x="3175" y="6400800"/>
            <a:ext cx="12188825" cy="457200"/>
          </a:xfrm>
          <a:prstGeom prst="rect">
            <a:avLst/>
          </a:prstGeom>
          <a:solidFill>
            <a:srgbClr val="26262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80" y="2108201"/>
            <a:ext cx="10058400" cy="3760891"/>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218426" y="6446838"/>
            <a:ext cx="2584850" cy="365125"/>
          </a:xfrm>
          <a:prstGeom prst="rect">
            <a:avLst/>
          </a:prstGeom>
        </p:spPr>
        <p:txBody>
          <a:bodyPr vert="horz" lIns="91440" tIns="45720" rIns="91440" bIns="45720" rtlCol="0" anchor="ctr"/>
          <a:lstStyle>
            <a:lvl1pPr algn="r">
              <a:defRPr sz="900">
                <a:solidFill>
                  <a:srgbClr val="FFFFFF"/>
                </a:solidFill>
              </a:defRPr>
            </a:lvl1pPr>
          </a:lstStyle>
          <a:p>
            <a:fld id="{62D6E202-B606-4609-B914-27C9371A1F6D}" type="datetime1">
              <a:rPr lang="en-US" smtClean="0"/>
              <a:t>3/24/2026</a:t>
            </a:fld>
            <a:endParaRPr lang="en-US" dirty="0"/>
          </a:p>
        </p:txBody>
      </p:sp>
      <p:sp>
        <p:nvSpPr>
          <p:cNvPr id="5" name="Footer Placeholder 4"/>
          <p:cNvSpPr>
            <a:spLocks noGrp="1"/>
          </p:cNvSpPr>
          <p:nvPr>
            <p:ph type="ftr" sz="quarter" idx="3"/>
          </p:nvPr>
        </p:nvSpPr>
        <p:spPr>
          <a:xfrm>
            <a:off x="1097279" y="6446838"/>
            <a:ext cx="6818262" cy="365125"/>
          </a:xfrm>
          <a:prstGeom prst="rect">
            <a:avLst/>
          </a:prstGeom>
        </p:spPr>
        <p:txBody>
          <a:bodyPr vert="horz" lIns="91440" tIns="45720" rIns="91440" bIns="45720" rtlCol="0" anchor="ctr"/>
          <a:lstStyle>
            <a:lvl1pPr algn="l">
              <a:defRPr sz="900" cap="all" baseline="0">
                <a:solidFill>
                  <a:srgbClr val="FFFFFF"/>
                </a:solidFill>
              </a:defRPr>
            </a:lvl1pPr>
          </a:lstStyle>
          <a:p>
            <a:endParaRPr lang="en-US" dirty="0"/>
          </a:p>
        </p:txBody>
      </p:sp>
      <p:sp>
        <p:nvSpPr>
          <p:cNvPr id="6" name="Slide Number Placeholder 5"/>
          <p:cNvSpPr>
            <a:spLocks noGrp="1"/>
          </p:cNvSpPr>
          <p:nvPr>
            <p:ph type="sldNum" sz="quarter" idx="4"/>
          </p:nvPr>
        </p:nvSpPr>
        <p:spPr>
          <a:xfrm>
            <a:off x="10993582" y="6446838"/>
            <a:ext cx="780010" cy="365125"/>
          </a:xfrm>
          <a:prstGeom prst="rect">
            <a:avLst/>
          </a:prstGeom>
        </p:spPr>
        <p:txBody>
          <a:bodyPr vert="horz" lIns="91440" tIns="45720" rIns="91440" bIns="45720" rtlCol="0" anchor="ctr"/>
          <a:lstStyle>
            <a:lvl1pPr algn="l">
              <a:defRPr sz="900">
                <a:solidFill>
                  <a:srgbClr val="FFFFFF"/>
                </a:solidFill>
              </a:defRPr>
            </a:lvl1pPr>
          </a:lstStyle>
          <a:p>
            <a:fld id="{3A98EE3D-8CD1-4C3F-BD1C-C98C9596463C}" type="slidenum">
              <a:rPr lang="en-US" smtClean="0"/>
              <a:t>‹#›</a:t>
            </a:fld>
            <a:endParaRPr lang="en-US" dirty="0"/>
          </a:p>
        </p:txBody>
      </p:sp>
      <p:cxnSp>
        <p:nvCxnSpPr>
          <p:cNvPr id="10" name="Straight Connector 9">
            <a:extLst>
              <a:ext uri="{FF2B5EF4-FFF2-40B4-BE49-F238E27FC236}">
                <a16:creationId xmlns:a16="http://schemas.microsoft.com/office/drawing/2014/main" id="{C5025DAC-8B93-4160-B017-3A274A5828C0}"/>
              </a:ext>
            </a:extLst>
          </p:cNvPr>
          <p:cNvCxnSpPr/>
          <p:nvPr/>
        </p:nvCxnSpPr>
        <p:spPr>
          <a:xfrm>
            <a:off x="1193532" y="1897380"/>
            <a:ext cx="996696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160147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Lst>
  <p:hf sldNum="0" hdr="0" ftr="0" dt="0"/>
  <p:txStyles>
    <p:titleStyle>
      <a:lvl1pPr algn="l" defTabSz="914400" rtl="0" eaLnBrk="1" latinLnBrk="0" hangingPunct="1">
        <a:lnSpc>
          <a:spcPct val="90000"/>
        </a:lnSpc>
        <a:spcBef>
          <a:spcPct val="0"/>
        </a:spcBef>
        <a:buNone/>
        <a:defRPr sz="46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11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100000"/>
        </a:lnSpc>
        <a:spcBef>
          <a:spcPts val="200"/>
        </a:spcBef>
        <a:spcAft>
          <a:spcPts val="400"/>
        </a:spcAft>
        <a:buClrTx/>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100000"/>
        </a:lnSpc>
        <a:spcBef>
          <a:spcPts val="200"/>
        </a:spcBef>
        <a:spcAft>
          <a:spcPts val="400"/>
        </a:spcAft>
        <a:buClrTx/>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chart" Target="../charts/chart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Layout" Target="../slideLayouts/slideLayout1.xml"/><Relationship Id="rId1" Type="http://schemas.openxmlformats.org/officeDocument/2006/relationships/themeOverride" Target="../theme/themeOverr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F452A527-3631-41ED-858D-3777A7D149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9AB2EA78-AEB3-469B-9025-3B17201A457B}"/>
              </a:ext>
            </a:extLst>
          </p:cNvPr>
          <p:cNvSpPr>
            <a:spLocks noGrp="1"/>
          </p:cNvSpPr>
          <p:nvPr>
            <p:ph type="ctrTitle"/>
          </p:nvPr>
        </p:nvSpPr>
        <p:spPr>
          <a:xfrm>
            <a:off x="6730000" y="639097"/>
            <a:ext cx="4813072" cy="3494791"/>
          </a:xfrm>
        </p:spPr>
        <p:txBody>
          <a:bodyPr>
            <a:normAutofit/>
          </a:bodyPr>
          <a:lstStyle/>
          <a:p>
            <a:r>
              <a:rPr lang="en-US" dirty="0"/>
              <a:t>Dashboard </a:t>
            </a:r>
          </a:p>
        </p:txBody>
      </p:sp>
      <p:sp>
        <p:nvSpPr>
          <p:cNvPr id="3" name="Subtitle 2">
            <a:extLst>
              <a:ext uri="{FF2B5EF4-FFF2-40B4-BE49-F238E27FC236}">
                <a16:creationId xmlns:a16="http://schemas.microsoft.com/office/drawing/2014/main" id="{255E1F2F-E259-4EA8-9FFD-3A10AF541859}"/>
              </a:ext>
            </a:extLst>
          </p:cNvPr>
          <p:cNvSpPr>
            <a:spLocks noGrp="1"/>
          </p:cNvSpPr>
          <p:nvPr>
            <p:ph type="subTitle" idx="1"/>
          </p:nvPr>
        </p:nvSpPr>
        <p:spPr>
          <a:xfrm>
            <a:off x="6729999" y="4455621"/>
            <a:ext cx="4829101" cy="1238616"/>
          </a:xfrm>
        </p:spPr>
        <p:txBody>
          <a:bodyPr>
            <a:normAutofit/>
          </a:bodyPr>
          <a:lstStyle/>
          <a:p>
            <a:endParaRPr lang="en-US" dirty="0"/>
          </a:p>
        </p:txBody>
      </p:sp>
      <p:pic>
        <p:nvPicPr>
          <p:cNvPr id="6" name="Picture 5">
            <a:extLst>
              <a:ext uri="{FF2B5EF4-FFF2-40B4-BE49-F238E27FC236}">
                <a16:creationId xmlns:a16="http://schemas.microsoft.com/office/drawing/2014/main" id="{8940CBE3-3F91-419A-A649-32AB388ECA8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D28A9C89-B313-458F-9C85-515930A51A93}"/>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9591584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A47F5C-50EC-416A-AE8C-6F6BB4225673}"/>
              </a:ext>
            </a:extLst>
          </p:cNvPr>
          <p:cNvSpPr>
            <a:spLocks noGrp="1"/>
          </p:cNvSpPr>
          <p:nvPr>
            <p:ph type="title"/>
          </p:nvPr>
        </p:nvSpPr>
        <p:spPr>
          <a:xfrm>
            <a:off x="1097280" y="286603"/>
            <a:ext cx="10058400" cy="1450757"/>
          </a:xfrm>
        </p:spPr>
        <p:txBody>
          <a:bodyPr>
            <a:normAutofit/>
          </a:bodyPr>
          <a:lstStyle/>
          <a:p>
            <a:r>
              <a:rPr lang="en-US" dirty="0"/>
              <a:t>Summary</a:t>
            </a:r>
          </a:p>
        </p:txBody>
      </p:sp>
      <p:sp>
        <p:nvSpPr>
          <p:cNvPr id="5" name="Content Placeholder 4">
            <a:extLst>
              <a:ext uri="{FF2B5EF4-FFF2-40B4-BE49-F238E27FC236}">
                <a16:creationId xmlns:a16="http://schemas.microsoft.com/office/drawing/2014/main" id="{9C440AE5-F262-BBA7-DB96-8C190316B74B}"/>
              </a:ext>
            </a:extLst>
          </p:cNvPr>
          <p:cNvSpPr>
            <a:spLocks noGrp="1"/>
          </p:cNvSpPr>
          <p:nvPr>
            <p:ph idx="1"/>
          </p:nvPr>
        </p:nvSpPr>
        <p:spPr/>
        <p:txBody>
          <a:bodyPr/>
          <a:lstStyle/>
          <a:p>
            <a:r>
              <a:rPr lang="en-US" dirty="0"/>
              <a:t>This dashboard analyzes user activity based on day type and month using slicers. It highlights KPIs like average registered and casual users, along with temperature impact. We can see that registered users dominate usage, weekdays are more stable, and January performs better than February. Temperature also shows a correlation with activity, helping in understanding user behavior trends.</a:t>
            </a:r>
            <a:endParaRPr lang="en-IN" dirty="0"/>
          </a:p>
        </p:txBody>
      </p:sp>
    </p:spTree>
    <p:extLst>
      <p:ext uri="{BB962C8B-B14F-4D97-AF65-F5344CB8AC3E}">
        <p14:creationId xmlns:p14="http://schemas.microsoft.com/office/powerpoint/2010/main" val="2655225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25596-38A4-6BA5-F385-A8E713451F86}"/>
              </a:ext>
            </a:extLst>
          </p:cNvPr>
          <p:cNvSpPr>
            <a:spLocks noGrp="1"/>
          </p:cNvSpPr>
          <p:nvPr>
            <p:ph type="title"/>
          </p:nvPr>
        </p:nvSpPr>
        <p:spPr/>
        <p:txBody>
          <a:bodyPr/>
          <a:lstStyle/>
          <a:p>
            <a:r>
              <a:rPr lang="en-US" dirty="0"/>
              <a:t>Day wise temperature and </a:t>
            </a:r>
            <a:r>
              <a:rPr lang="en-US" dirty="0" err="1"/>
              <a:t>avg.temperature</a:t>
            </a:r>
            <a:endParaRPr lang="en-IN" dirty="0"/>
          </a:p>
        </p:txBody>
      </p:sp>
      <p:graphicFrame>
        <p:nvGraphicFramePr>
          <p:cNvPr id="4" name="Content Placeholder 3">
            <a:extLst>
              <a:ext uri="{FF2B5EF4-FFF2-40B4-BE49-F238E27FC236}">
                <a16:creationId xmlns:a16="http://schemas.microsoft.com/office/drawing/2014/main" id="{3A7DAA79-A1CF-47EB-BE74-A3079944939A}"/>
              </a:ext>
            </a:extLst>
          </p:cNvPr>
          <p:cNvGraphicFramePr>
            <a:graphicFrameLocks noGrp="1"/>
          </p:cNvGraphicFramePr>
          <p:nvPr>
            <p:ph idx="1"/>
            <p:extLst>
              <p:ext uri="{D42A27DB-BD31-4B8C-83A1-F6EECF244321}">
                <p14:modId xmlns:p14="http://schemas.microsoft.com/office/powerpoint/2010/main" val="3412986973"/>
              </p:ext>
            </p:extLst>
          </p:nvPr>
        </p:nvGraphicFramePr>
        <p:xfrm>
          <a:off x="6096000" y="2144776"/>
          <a:ext cx="5059363" cy="376078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0535CAAA-11B6-2BFF-F6CB-369FA463C090}"/>
              </a:ext>
            </a:extLst>
          </p:cNvPr>
          <p:cNvSpPr txBox="1"/>
          <p:nvPr/>
        </p:nvSpPr>
        <p:spPr>
          <a:xfrm>
            <a:off x="1179575" y="1965960"/>
            <a:ext cx="5059363" cy="4524315"/>
          </a:xfrm>
          <a:prstGeom prst="rect">
            <a:avLst/>
          </a:prstGeom>
          <a:noFill/>
        </p:spPr>
        <p:txBody>
          <a:bodyPr wrap="square" rtlCol="0">
            <a:spAutoFit/>
          </a:bodyPr>
          <a:lstStyle/>
          <a:p>
            <a:pPr marL="285750" indent="-285750">
              <a:buFont typeface="Arial" panose="020B0604020202020204" pitchFamily="34" charset="0"/>
              <a:buChar char="•"/>
            </a:pPr>
            <a:r>
              <a:rPr lang="en-US" b="1" dirty="0"/>
              <a:t>X-Axis (Horizontal):</a:t>
            </a:r>
            <a:r>
              <a:rPr lang="en-US" dirty="0"/>
              <a:t> Shows a timeline of dates from January 1st through February 14th. The labels skip a day (01-Jan, 03-Jan, 05-Jan, etc.) to keep the text readable, but there is data plotted for every single day.</a:t>
            </a:r>
          </a:p>
          <a:p>
            <a:endParaRPr lang="en-US" dirty="0"/>
          </a:p>
          <a:p>
            <a:pPr marL="285750" indent="-285750">
              <a:buFont typeface="Arial" panose="020B0604020202020204" pitchFamily="34" charset="0"/>
              <a:buChar char="•"/>
            </a:pPr>
            <a:r>
              <a:rPr lang="en-US" b="1" dirty="0"/>
              <a:t>Y-Axis (Vertical):</a:t>
            </a:r>
            <a:r>
              <a:rPr lang="en-US" dirty="0"/>
              <a:t> Shows a numerical scale from 0 to 10.</a:t>
            </a:r>
          </a:p>
          <a:p>
            <a:endParaRPr lang="en-US" dirty="0"/>
          </a:p>
          <a:p>
            <a:pPr marL="285750" indent="-285750">
              <a:buFont typeface="Arial" panose="020B0604020202020204" pitchFamily="34" charset="0"/>
              <a:buChar char="•"/>
            </a:pPr>
            <a:r>
              <a:rPr lang="en-US" b="1" dirty="0"/>
              <a:t>Orange Bars:</a:t>
            </a:r>
            <a:r>
              <a:rPr lang="en-US" dirty="0"/>
              <a:t> Represent the "Sum of temp" (likely the actual temperature). </a:t>
            </a:r>
          </a:p>
          <a:p>
            <a:endParaRPr lang="en-US" dirty="0"/>
          </a:p>
          <a:p>
            <a:pPr marL="285750" indent="-285750">
              <a:buFont typeface="Arial" panose="020B0604020202020204" pitchFamily="34" charset="0"/>
              <a:buChar char="•"/>
            </a:pPr>
            <a:r>
              <a:rPr lang="en-US" b="1" dirty="0"/>
              <a:t>Olive Green Line:</a:t>
            </a:r>
            <a:r>
              <a:rPr lang="en-US" dirty="0"/>
              <a:t> Represents the "Sum of </a:t>
            </a:r>
            <a:r>
              <a:rPr lang="en-US" dirty="0" err="1"/>
              <a:t>atemp</a:t>
            </a:r>
            <a:r>
              <a:rPr lang="en-US" dirty="0"/>
              <a:t>" (likely "apparent temperature," meaning what it actually "feels like" outside due to factors like humidity or wind).</a:t>
            </a:r>
            <a:endParaRPr lang="en-IN" dirty="0"/>
          </a:p>
        </p:txBody>
      </p:sp>
    </p:spTree>
    <p:extLst>
      <p:ext uri="{BB962C8B-B14F-4D97-AF65-F5344CB8AC3E}">
        <p14:creationId xmlns:p14="http://schemas.microsoft.com/office/powerpoint/2010/main" val="2256753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AA5A4-796A-9025-E9AB-5AA42797BADF}"/>
              </a:ext>
            </a:extLst>
          </p:cNvPr>
          <p:cNvSpPr>
            <a:spLocks noGrp="1"/>
          </p:cNvSpPr>
          <p:nvPr>
            <p:ph type="title"/>
          </p:nvPr>
        </p:nvSpPr>
        <p:spPr/>
        <p:txBody>
          <a:bodyPr/>
          <a:lstStyle/>
          <a:p>
            <a:r>
              <a:rPr lang="en-IN" dirty="0"/>
              <a:t>Observations</a:t>
            </a:r>
          </a:p>
        </p:txBody>
      </p:sp>
      <p:sp>
        <p:nvSpPr>
          <p:cNvPr id="3" name="Content Placeholder 2">
            <a:extLst>
              <a:ext uri="{FF2B5EF4-FFF2-40B4-BE49-F238E27FC236}">
                <a16:creationId xmlns:a16="http://schemas.microsoft.com/office/drawing/2014/main" id="{B64E07FB-DD82-FA40-C8DB-B47F18462CC4}"/>
              </a:ext>
            </a:extLst>
          </p:cNvPr>
          <p:cNvSpPr>
            <a:spLocks noGrp="1"/>
          </p:cNvSpPr>
          <p:nvPr>
            <p:ph idx="1"/>
          </p:nvPr>
        </p:nvSpPr>
        <p:spPr/>
        <p:txBody>
          <a:bodyPr/>
          <a:lstStyle/>
          <a:p>
            <a:r>
              <a:rPr lang="en-US" dirty="0"/>
              <a:t>- The most obvious takeaway is that the actual temperature (bars) and the apparent temperature (line) track very closely together. Whenever the actual temperature drops, the "feels like" temperature drops with it.</a:t>
            </a:r>
          </a:p>
          <a:p>
            <a:r>
              <a:rPr lang="en-US" dirty="0"/>
              <a:t>- If you look closely at the peaks, the olive green line is almost always sitting just slightly above the top of the orange bars. This means it generally "felt" slightly warmer than the actual measured temperature during this period.</a:t>
            </a:r>
          </a:p>
          <a:p>
            <a:r>
              <a:rPr lang="en-US" dirty="0"/>
              <a:t>- The highest peak is right at the beginning of the timeline on </a:t>
            </a:r>
            <a:r>
              <a:rPr lang="en-US" b="1" dirty="0"/>
              <a:t>January 1</a:t>
            </a:r>
            <a:r>
              <a:rPr lang="en-US" b="1" baseline="30000" dirty="0"/>
              <a:t>st</a:t>
            </a:r>
            <a:r>
              <a:rPr lang="en-US" b="1" dirty="0"/>
              <a:t>.</a:t>
            </a:r>
          </a:p>
          <a:p>
            <a:r>
              <a:rPr lang="en-US" dirty="0"/>
              <a:t>- The lowest dip happens around </a:t>
            </a:r>
            <a:r>
              <a:rPr lang="en-US" b="1" dirty="0"/>
              <a:t>January 22nd</a:t>
            </a:r>
            <a:r>
              <a:rPr lang="en-US" dirty="0"/>
              <a:t> and again near </a:t>
            </a:r>
            <a:r>
              <a:rPr lang="en-US" b="1" dirty="0"/>
              <a:t>January 27</a:t>
            </a:r>
            <a:r>
              <a:rPr lang="en-US" b="1" baseline="30000" dirty="0"/>
              <a:t>th</a:t>
            </a:r>
            <a:r>
              <a:rPr lang="en-US" b="1" dirty="0"/>
              <a:t>.</a:t>
            </a:r>
            <a:endParaRPr lang="en-IN" dirty="0"/>
          </a:p>
        </p:txBody>
      </p:sp>
    </p:spTree>
    <p:extLst>
      <p:ext uri="{BB962C8B-B14F-4D97-AF65-F5344CB8AC3E}">
        <p14:creationId xmlns:p14="http://schemas.microsoft.com/office/powerpoint/2010/main" val="42024918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D14910-F9E2-E930-7265-08C5CD8FED8B}"/>
              </a:ext>
            </a:extLst>
          </p:cNvPr>
          <p:cNvSpPr>
            <a:spLocks noGrp="1"/>
          </p:cNvSpPr>
          <p:nvPr>
            <p:ph type="title"/>
          </p:nvPr>
        </p:nvSpPr>
        <p:spPr/>
        <p:txBody>
          <a:bodyPr/>
          <a:lstStyle/>
          <a:p>
            <a:r>
              <a:rPr lang="en-IN" dirty="0"/>
              <a:t>Day wise total hrs</a:t>
            </a:r>
          </a:p>
        </p:txBody>
      </p:sp>
      <p:graphicFrame>
        <p:nvGraphicFramePr>
          <p:cNvPr id="4" name="Content Placeholder 3">
            <a:extLst>
              <a:ext uri="{FF2B5EF4-FFF2-40B4-BE49-F238E27FC236}">
                <a16:creationId xmlns:a16="http://schemas.microsoft.com/office/drawing/2014/main" id="{3BDF30BD-247F-4CF5-BA14-A8C38871B212}"/>
              </a:ext>
            </a:extLst>
          </p:cNvPr>
          <p:cNvGraphicFramePr>
            <a:graphicFrameLocks noGrp="1"/>
          </p:cNvGraphicFramePr>
          <p:nvPr>
            <p:ph idx="1"/>
            <p:extLst>
              <p:ext uri="{D42A27DB-BD31-4B8C-83A1-F6EECF244321}">
                <p14:modId xmlns:p14="http://schemas.microsoft.com/office/powerpoint/2010/main" val="4017200263"/>
              </p:ext>
            </p:extLst>
          </p:nvPr>
        </p:nvGraphicFramePr>
        <p:xfrm>
          <a:off x="6095999" y="2108200"/>
          <a:ext cx="5059363" cy="3760788"/>
        </p:xfrm>
        <a:graphic>
          <a:graphicData uri="http://schemas.openxmlformats.org/drawingml/2006/chart">
            <c:chart xmlns:c="http://schemas.openxmlformats.org/drawingml/2006/chart" xmlns:r="http://schemas.openxmlformats.org/officeDocument/2006/relationships" r:id="rId2"/>
          </a:graphicData>
        </a:graphic>
      </p:graphicFrame>
      <p:sp>
        <p:nvSpPr>
          <p:cNvPr id="5" name="TextBox 4">
            <a:extLst>
              <a:ext uri="{FF2B5EF4-FFF2-40B4-BE49-F238E27FC236}">
                <a16:creationId xmlns:a16="http://schemas.microsoft.com/office/drawing/2014/main" id="{489B8235-0F18-6875-3755-97FEEBAD2685}"/>
              </a:ext>
            </a:extLst>
          </p:cNvPr>
          <p:cNvSpPr txBox="1"/>
          <p:nvPr/>
        </p:nvSpPr>
        <p:spPr>
          <a:xfrm>
            <a:off x="1097280" y="1956816"/>
            <a:ext cx="5059363" cy="2585323"/>
          </a:xfrm>
          <a:prstGeom prst="rect">
            <a:avLst/>
          </a:prstGeom>
          <a:noFill/>
        </p:spPr>
        <p:txBody>
          <a:bodyPr wrap="square" rtlCol="0">
            <a:spAutoFit/>
          </a:bodyPr>
          <a:lstStyle/>
          <a:p>
            <a:pPr marL="285750" indent="-285750">
              <a:buFont typeface="Arial" panose="020B0604020202020204" pitchFamily="34" charset="0"/>
              <a:buChar char="•"/>
            </a:pPr>
            <a:r>
              <a:rPr lang="en-US" b="1" dirty="0"/>
              <a:t>X-Axis (Horizontal):</a:t>
            </a:r>
            <a:r>
              <a:rPr lang="en-US" dirty="0"/>
              <a:t> Shows a timeline of dates from January 1st through February 14th. </a:t>
            </a:r>
          </a:p>
          <a:p>
            <a:endParaRPr lang="en-US" dirty="0"/>
          </a:p>
          <a:p>
            <a:pPr marL="285750" indent="-285750">
              <a:buFont typeface="Arial" panose="020B0604020202020204" pitchFamily="34" charset="0"/>
              <a:buChar char="•"/>
            </a:pPr>
            <a:r>
              <a:rPr lang="en-US" b="1" dirty="0"/>
              <a:t>Y-Axis (Vertical):</a:t>
            </a:r>
            <a:r>
              <a:rPr lang="en-US" dirty="0"/>
              <a:t> Shows a numerical scale from 0 to 300 hrs.</a:t>
            </a:r>
          </a:p>
          <a:p>
            <a:endParaRPr lang="en-US" dirty="0"/>
          </a:p>
          <a:p>
            <a:pPr marL="285750" indent="-285750">
              <a:buFont typeface="Arial" panose="020B0604020202020204" pitchFamily="34" charset="0"/>
              <a:buChar char="•"/>
            </a:pPr>
            <a:r>
              <a:rPr lang="en-US" b="1" dirty="0"/>
              <a:t>Orange Bars:</a:t>
            </a:r>
            <a:r>
              <a:rPr lang="en-US" dirty="0"/>
              <a:t> Represent the “</a:t>
            </a:r>
            <a:r>
              <a:rPr lang="en-US" dirty="0" err="1"/>
              <a:t>Hrs</a:t>
            </a:r>
            <a:r>
              <a:rPr lang="en-US" dirty="0"/>
              <a:t>“.</a:t>
            </a:r>
          </a:p>
          <a:p>
            <a:pPr marL="285750" indent="-285750">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9964257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53CB5E-6DD4-7ED7-0C77-3D3886BC0A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A6AB2-A325-DBB7-0FC8-0E5EE2F63BF0}"/>
              </a:ext>
            </a:extLst>
          </p:cNvPr>
          <p:cNvSpPr>
            <a:spLocks noGrp="1"/>
          </p:cNvSpPr>
          <p:nvPr>
            <p:ph type="title"/>
          </p:nvPr>
        </p:nvSpPr>
        <p:spPr/>
        <p:txBody>
          <a:bodyPr/>
          <a:lstStyle/>
          <a:p>
            <a:r>
              <a:rPr lang="en-IN" dirty="0"/>
              <a:t>Observations</a:t>
            </a:r>
          </a:p>
        </p:txBody>
      </p:sp>
      <p:sp>
        <p:nvSpPr>
          <p:cNvPr id="3" name="Content Placeholder 2">
            <a:extLst>
              <a:ext uri="{FF2B5EF4-FFF2-40B4-BE49-F238E27FC236}">
                <a16:creationId xmlns:a16="http://schemas.microsoft.com/office/drawing/2014/main" id="{2C117CCD-7F1B-79C3-8D56-31BA82E3AAC7}"/>
              </a:ext>
            </a:extLst>
          </p:cNvPr>
          <p:cNvSpPr>
            <a:spLocks noGrp="1"/>
          </p:cNvSpPr>
          <p:nvPr>
            <p:ph idx="1"/>
          </p:nvPr>
        </p:nvSpPr>
        <p:spPr/>
        <p:txBody>
          <a:bodyPr/>
          <a:lstStyle/>
          <a:p>
            <a:r>
              <a:rPr lang="en-US" dirty="0"/>
              <a:t>- </a:t>
            </a:r>
            <a:r>
              <a:rPr lang="en-US" b="1" dirty="0"/>
              <a:t>January 18th-19th:</a:t>
            </a:r>
            <a:r>
              <a:rPr lang="en-US" dirty="0"/>
              <a:t> A sharp drop to roughly 210 hour</a:t>
            </a:r>
          </a:p>
          <a:p>
            <a:r>
              <a:rPr lang="en-US" dirty="0"/>
              <a:t>- </a:t>
            </a:r>
            <a:r>
              <a:rPr lang="en-US" b="1" dirty="0"/>
              <a:t>January 26th-27th:</a:t>
            </a:r>
            <a:r>
              <a:rPr lang="en-US" dirty="0"/>
              <a:t> A massive drop where hours fell below 150.</a:t>
            </a:r>
          </a:p>
          <a:p>
            <a:r>
              <a:rPr lang="en-US" dirty="0"/>
              <a:t>- </a:t>
            </a:r>
            <a:r>
              <a:rPr lang="en-US" b="1" dirty="0"/>
              <a:t>February 14th:</a:t>
            </a:r>
            <a:r>
              <a:rPr lang="en-US" dirty="0"/>
              <a:t> A near-vertical drop at the very end of the data set, falling toward zero.</a:t>
            </a:r>
          </a:p>
        </p:txBody>
      </p:sp>
    </p:spTree>
    <p:extLst>
      <p:ext uri="{BB962C8B-B14F-4D97-AF65-F5344CB8AC3E}">
        <p14:creationId xmlns:p14="http://schemas.microsoft.com/office/powerpoint/2010/main" val="32000395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8C8CA0-74B9-D5A2-1E40-3DE5763D2C3B}"/>
              </a:ext>
            </a:extLst>
          </p:cNvPr>
          <p:cNvSpPr>
            <a:spLocks noGrp="1"/>
          </p:cNvSpPr>
          <p:nvPr>
            <p:ph type="title"/>
          </p:nvPr>
        </p:nvSpPr>
        <p:spPr/>
        <p:txBody>
          <a:bodyPr/>
          <a:lstStyle/>
          <a:p>
            <a:r>
              <a:rPr lang="en-US" dirty="0"/>
              <a:t>Month wise temperature</a:t>
            </a:r>
            <a:endParaRPr lang="en-IN" dirty="0"/>
          </a:p>
        </p:txBody>
      </p:sp>
      <p:graphicFrame>
        <p:nvGraphicFramePr>
          <p:cNvPr id="4" name="Content Placeholder 3">
            <a:extLst>
              <a:ext uri="{FF2B5EF4-FFF2-40B4-BE49-F238E27FC236}">
                <a16:creationId xmlns:a16="http://schemas.microsoft.com/office/drawing/2014/main" id="{CCFAC3FF-727F-453D-BD87-3909FD9CD8FD}"/>
              </a:ext>
            </a:extLst>
          </p:cNvPr>
          <p:cNvGraphicFramePr>
            <a:graphicFrameLocks noGrp="1"/>
          </p:cNvGraphicFramePr>
          <p:nvPr>
            <p:ph idx="1"/>
            <p:extLst>
              <p:ext uri="{D42A27DB-BD31-4B8C-83A1-F6EECF244321}">
                <p14:modId xmlns:p14="http://schemas.microsoft.com/office/powerpoint/2010/main" val="1275046222"/>
              </p:ext>
            </p:extLst>
          </p:nvPr>
        </p:nvGraphicFramePr>
        <p:xfrm>
          <a:off x="6095999" y="2108200"/>
          <a:ext cx="5059363" cy="3760788"/>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F654557E-B1A1-DA16-60BF-3B5CA4FC2282}"/>
              </a:ext>
            </a:extLst>
          </p:cNvPr>
          <p:cNvSpPr txBox="1"/>
          <p:nvPr/>
        </p:nvSpPr>
        <p:spPr>
          <a:xfrm>
            <a:off x="1097280" y="1956816"/>
            <a:ext cx="5059363" cy="2862322"/>
          </a:xfrm>
          <a:prstGeom prst="rect">
            <a:avLst/>
          </a:prstGeom>
          <a:noFill/>
        </p:spPr>
        <p:txBody>
          <a:bodyPr wrap="square" rtlCol="0">
            <a:spAutoFit/>
          </a:bodyPr>
          <a:lstStyle/>
          <a:p>
            <a:pPr marL="285750" indent="-285750">
              <a:buFont typeface="Arial" panose="020B0604020202020204" pitchFamily="34" charset="0"/>
              <a:buChar char="•"/>
            </a:pPr>
            <a:r>
              <a:rPr lang="en-US" b="1" dirty="0"/>
              <a:t>X-Axis (Horizontal):</a:t>
            </a:r>
            <a:r>
              <a:rPr lang="en-US" dirty="0"/>
              <a:t> Categorized by the months </a:t>
            </a:r>
            <a:r>
              <a:rPr lang="en-US" b="1" dirty="0"/>
              <a:t>Jan</a:t>
            </a:r>
            <a:r>
              <a:rPr lang="en-US" dirty="0"/>
              <a:t> and </a:t>
            </a:r>
            <a:r>
              <a:rPr lang="en-US" b="1" dirty="0"/>
              <a:t>Feb</a:t>
            </a:r>
            <a:r>
              <a:rPr lang="en-US" dirty="0"/>
              <a:t>.</a:t>
            </a:r>
          </a:p>
          <a:p>
            <a:endParaRPr lang="en-US" dirty="0"/>
          </a:p>
          <a:p>
            <a:pPr marL="285750" indent="-285750">
              <a:buFont typeface="Arial" panose="020B0604020202020204" pitchFamily="34" charset="0"/>
              <a:buChar char="•"/>
            </a:pPr>
            <a:r>
              <a:rPr lang="en-US" b="1" dirty="0"/>
              <a:t>Y-Axis (Vertical):</a:t>
            </a:r>
            <a:r>
              <a:rPr lang="en-US" dirty="0"/>
              <a:t> Represents the cumulative numerical value, ranging from 0 to 160.</a:t>
            </a:r>
          </a:p>
          <a:p>
            <a:endParaRPr lang="en-US" dirty="0"/>
          </a:p>
          <a:p>
            <a:pPr marL="285750" indent="-285750">
              <a:buFont typeface="Arial" panose="020B0604020202020204" pitchFamily="34" charset="0"/>
              <a:buChar char="•"/>
            </a:pPr>
            <a:r>
              <a:rPr lang="en-US" b="1" dirty="0"/>
              <a:t>Orange Bar:</a:t>
            </a:r>
            <a:r>
              <a:rPr lang="en-US" dirty="0"/>
              <a:t> Represents the </a:t>
            </a:r>
            <a:r>
              <a:rPr lang="en-US" b="1" dirty="0"/>
              <a:t>Sum of temp</a:t>
            </a:r>
            <a:r>
              <a:rPr lang="en-US" dirty="0"/>
              <a:t>.</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Olive Bar:</a:t>
            </a:r>
            <a:r>
              <a:rPr lang="en-US" dirty="0"/>
              <a:t> Represents the </a:t>
            </a:r>
            <a:r>
              <a:rPr lang="en-US" b="1" dirty="0"/>
              <a:t>Sum of Avg. Temp.</a:t>
            </a:r>
            <a:endParaRPr lang="en-US" dirty="0"/>
          </a:p>
          <a:p>
            <a:endParaRPr lang="en-US" dirty="0"/>
          </a:p>
        </p:txBody>
      </p:sp>
    </p:spTree>
    <p:extLst>
      <p:ext uri="{BB962C8B-B14F-4D97-AF65-F5344CB8AC3E}">
        <p14:creationId xmlns:p14="http://schemas.microsoft.com/office/powerpoint/2010/main" val="36722479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39A4F-72EE-2A36-E408-8F36B7D180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2E91EE-062D-7D96-360A-55A9BCC56A9E}"/>
              </a:ext>
            </a:extLst>
          </p:cNvPr>
          <p:cNvSpPr>
            <a:spLocks noGrp="1"/>
          </p:cNvSpPr>
          <p:nvPr>
            <p:ph type="title"/>
          </p:nvPr>
        </p:nvSpPr>
        <p:spPr/>
        <p:txBody>
          <a:bodyPr/>
          <a:lstStyle/>
          <a:p>
            <a:r>
              <a:rPr lang="en-IN" dirty="0"/>
              <a:t>Observations</a:t>
            </a:r>
          </a:p>
        </p:txBody>
      </p:sp>
      <p:sp>
        <p:nvSpPr>
          <p:cNvPr id="3" name="Content Placeholder 2">
            <a:extLst>
              <a:ext uri="{FF2B5EF4-FFF2-40B4-BE49-F238E27FC236}">
                <a16:creationId xmlns:a16="http://schemas.microsoft.com/office/drawing/2014/main" id="{EE7786A1-0B59-66A9-B5B2-C2E778E461E9}"/>
              </a:ext>
            </a:extLst>
          </p:cNvPr>
          <p:cNvSpPr>
            <a:spLocks noGrp="1"/>
          </p:cNvSpPr>
          <p:nvPr>
            <p:ph idx="1"/>
          </p:nvPr>
        </p:nvSpPr>
        <p:spPr/>
        <p:txBody>
          <a:bodyPr/>
          <a:lstStyle/>
          <a:p>
            <a:r>
              <a:rPr lang="en-US" dirty="0"/>
              <a:t>- At first glance, it looks like February is much colder than January. </a:t>
            </a:r>
          </a:p>
          <a:p>
            <a:r>
              <a:rPr lang="en-US" dirty="0"/>
              <a:t>- In both months, the </a:t>
            </a:r>
            <a:r>
              <a:rPr lang="en-US" b="1" dirty="0"/>
              <a:t>Sum of Avg. Temp</a:t>
            </a:r>
            <a:r>
              <a:rPr lang="en-US" dirty="0"/>
              <a:t> (olive bar) is higher than the </a:t>
            </a:r>
            <a:r>
              <a:rPr lang="en-US" b="1" dirty="0"/>
              <a:t>Sum of temp</a:t>
            </a:r>
            <a:r>
              <a:rPr lang="en-US" dirty="0"/>
              <a:t> (orange bar). </a:t>
            </a:r>
          </a:p>
        </p:txBody>
      </p:sp>
    </p:spTree>
    <p:extLst>
      <p:ext uri="{BB962C8B-B14F-4D97-AF65-F5344CB8AC3E}">
        <p14:creationId xmlns:p14="http://schemas.microsoft.com/office/powerpoint/2010/main" val="4862951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817AFF-3953-36A7-AB94-9D5393271E87}"/>
              </a:ext>
            </a:extLst>
          </p:cNvPr>
          <p:cNvSpPr>
            <a:spLocks noGrp="1"/>
          </p:cNvSpPr>
          <p:nvPr>
            <p:ph type="title"/>
          </p:nvPr>
        </p:nvSpPr>
        <p:spPr/>
        <p:txBody>
          <a:bodyPr/>
          <a:lstStyle/>
          <a:p>
            <a:r>
              <a:rPr lang="en-US" dirty="0"/>
              <a:t>Month wise registered</a:t>
            </a:r>
            <a:endParaRPr lang="en-IN" dirty="0"/>
          </a:p>
        </p:txBody>
      </p:sp>
      <p:graphicFrame>
        <p:nvGraphicFramePr>
          <p:cNvPr id="4" name="Content Placeholder 3">
            <a:extLst>
              <a:ext uri="{FF2B5EF4-FFF2-40B4-BE49-F238E27FC236}">
                <a16:creationId xmlns:a16="http://schemas.microsoft.com/office/drawing/2014/main" id="{8716E82E-D539-4A23-95C0-D39B5885327B}"/>
              </a:ext>
            </a:extLst>
          </p:cNvPr>
          <p:cNvGraphicFramePr>
            <a:graphicFrameLocks noGrp="1"/>
          </p:cNvGraphicFramePr>
          <p:nvPr>
            <p:ph idx="1"/>
            <p:extLst>
              <p:ext uri="{D42A27DB-BD31-4B8C-83A1-F6EECF244321}">
                <p14:modId xmlns:p14="http://schemas.microsoft.com/office/powerpoint/2010/main" val="443362804"/>
              </p:ext>
            </p:extLst>
          </p:nvPr>
        </p:nvGraphicFramePr>
        <p:xfrm>
          <a:off x="6821423" y="1956816"/>
          <a:ext cx="4333939" cy="3912172"/>
        </p:xfrm>
        <a:graphic>
          <a:graphicData uri="http://schemas.openxmlformats.org/drawingml/2006/chart">
            <c:chart xmlns:c="http://schemas.openxmlformats.org/drawingml/2006/chart" xmlns:r="http://schemas.openxmlformats.org/officeDocument/2006/relationships" r:id="rId2"/>
          </a:graphicData>
        </a:graphic>
      </p:graphicFrame>
      <p:sp>
        <p:nvSpPr>
          <p:cNvPr id="6" name="TextBox 5">
            <a:extLst>
              <a:ext uri="{FF2B5EF4-FFF2-40B4-BE49-F238E27FC236}">
                <a16:creationId xmlns:a16="http://schemas.microsoft.com/office/drawing/2014/main" id="{9A74A089-E441-01A3-24AB-CE07F311B275}"/>
              </a:ext>
            </a:extLst>
          </p:cNvPr>
          <p:cNvSpPr txBox="1"/>
          <p:nvPr/>
        </p:nvSpPr>
        <p:spPr>
          <a:xfrm>
            <a:off x="1097280" y="1956816"/>
            <a:ext cx="5059363" cy="2031325"/>
          </a:xfrm>
          <a:prstGeom prst="rect">
            <a:avLst/>
          </a:prstGeom>
          <a:noFill/>
        </p:spPr>
        <p:txBody>
          <a:bodyPr wrap="square" rtlCol="0">
            <a:spAutoFit/>
          </a:bodyPr>
          <a:lstStyle/>
          <a:p>
            <a:pPr marL="285750" indent="-285750">
              <a:buFont typeface="Arial" panose="020B0604020202020204" pitchFamily="34" charset="0"/>
              <a:buChar char="•"/>
            </a:pPr>
            <a:r>
              <a:rPr lang="en-US" b="1" dirty="0"/>
              <a:t>X-Axis (Horizontal):</a:t>
            </a:r>
            <a:r>
              <a:rPr lang="en-US" dirty="0"/>
              <a:t> Categorized by the months </a:t>
            </a:r>
            <a:r>
              <a:rPr lang="en-US" b="1" dirty="0"/>
              <a:t>Jan</a:t>
            </a:r>
            <a:r>
              <a:rPr lang="en-US" dirty="0"/>
              <a:t> and </a:t>
            </a:r>
            <a:r>
              <a:rPr lang="en-US" b="1" dirty="0"/>
              <a:t>Feb</a:t>
            </a:r>
            <a:r>
              <a:rPr lang="en-US" dirty="0"/>
              <a:t>.</a:t>
            </a:r>
          </a:p>
          <a:p>
            <a:endParaRPr lang="en-US" dirty="0"/>
          </a:p>
          <a:p>
            <a:pPr marL="285750" indent="-285750">
              <a:buFont typeface="Arial" panose="020B0604020202020204" pitchFamily="34" charset="0"/>
              <a:buChar char="•"/>
            </a:pPr>
            <a:r>
              <a:rPr lang="en-US" b="1" dirty="0"/>
              <a:t>Y-Axis (Vertical):</a:t>
            </a:r>
            <a:r>
              <a:rPr lang="en-US" dirty="0"/>
              <a:t> Represents the cumulative numerical value, ranging from 0 to 40000.</a:t>
            </a:r>
          </a:p>
          <a:p>
            <a:endParaRPr lang="en-US" dirty="0"/>
          </a:p>
          <a:p>
            <a:pPr marL="285750" indent="-285750">
              <a:buFont typeface="Arial" panose="020B0604020202020204" pitchFamily="34" charset="0"/>
              <a:buChar char="•"/>
            </a:pPr>
            <a:r>
              <a:rPr lang="en-US" b="1" dirty="0"/>
              <a:t>Orange Bar:</a:t>
            </a:r>
            <a:r>
              <a:rPr lang="en-US" dirty="0"/>
              <a:t> Represents the </a:t>
            </a:r>
            <a:r>
              <a:rPr lang="en-US" b="1" dirty="0"/>
              <a:t>registered number</a:t>
            </a:r>
            <a:r>
              <a:rPr lang="en-US" dirty="0"/>
              <a:t>.</a:t>
            </a:r>
          </a:p>
        </p:txBody>
      </p:sp>
    </p:spTree>
    <p:extLst>
      <p:ext uri="{BB962C8B-B14F-4D97-AF65-F5344CB8AC3E}">
        <p14:creationId xmlns:p14="http://schemas.microsoft.com/office/powerpoint/2010/main" val="6928329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026FAF-2791-6D63-E9D6-5E477B6F3D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E7CAE6-BB2A-E3F3-588E-FD5AF67CA69E}"/>
              </a:ext>
            </a:extLst>
          </p:cNvPr>
          <p:cNvSpPr>
            <a:spLocks noGrp="1"/>
          </p:cNvSpPr>
          <p:nvPr>
            <p:ph type="title"/>
          </p:nvPr>
        </p:nvSpPr>
        <p:spPr/>
        <p:txBody>
          <a:bodyPr/>
          <a:lstStyle/>
          <a:p>
            <a:r>
              <a:rPr lang="en-IN" dirty="0"/>
              <a:t>Observations</a:t>
            </a:r>
          </a:p>
        </p:txBody>
      </p:sp>
      <p:sp>
        <p:nvSpPr>
          <p:cNvPr id="3" name="Content Placeholder 2">
            <a:extLst>
              <a:ext uri="{FF2B5EF4-FFF2-40B4-BE49-F238E27FC236}">
                <a16:creationId xmlns:a16="http://schemas.microsoft.com/office/drawing/2014/main" id="{5AE888FD-A282-93CB-17D9-14A47070A00F}"/>
              </a:ext>
            </a:extLst>
          </p:cNvPr>
          <p:cNvSpPr>
            <a:spLocks noGrp="1"/>
          </p:cNvSpPr>
          <p:nvPr>
            <p:ph idx="1"/>
          </p:nvPr>
        </p:nvSpPr>
        <p:spPr/>
        <p:txBody>
          <a:bodyPr/>
          <a:lstStyle/>
          <a:p>
            <a:r>
              <a:rPr lang="en-US" dirty="0"/>
              <a:t>- </a:t>
            </a:r>
            <a:r>
              <a:rPr lang="en-IN" b="1" dirty="0"/>
              <a:t>January:</a:t>
            </a:r>
            <a:r>
              <a:rPr lang="en-IN" dirty="0"/>
              <a:t> 35,116 registered users.</a:t>
            </a:r>
          </a:p>
          <a:p>
            <a:r>
              <a:rPr lang="en-US" dirty="0"/>
              <a:t>- </a:t>
            </a:r>
            <a:r>
              <a:rPr lang="en-IN" b="1" dirty="0"/>
              <a:t>February:</a:t>
            </a:r>
            <a:r>
              <a:rPr lang="en-IN" dirty="0"/>
              <a:t> 18,267 registered users.</a:t>
            </a:r>
          </a:p>
          <a:p>
            <a:r>
              <a:rPr lang="en-IN" dirty="0"/>
              <a:t>- </a:t>
            </a:r>
            <a:r>
              <a:rPr lang="en-US" dirty="0"/>
              <a:t>Even though the bar for February is shorter, the </a:t>
            </a:r>
            <a:r>
              <a:rPr lang="en-US" b="1" dirty="0"/>
              <a:t>rate of registration actually increased</a:t>
            </a:r>
            <a:r>
              <a:rPr lang="en-US" dirty="0"/>
              <a:t> in February by about </a:t>
            </a:r>
            <a:r>
              <a:rPr lang="en-US" b="1" dirty="0"/>
              <a:t>15%</a:t>
            </a:r>
            <a:r>
              <a:rPr lang="en-US" dirty="0"/>
              <a:t> compared to January.</a:t>
            </a:r>
          </a:p>
        </p:txBody>
      </p:sp>
    </p:spTree>
    <p:extLst>
      <p:ext uri="{BB962C8B-B14F-4D97-AF65-F5344CB8AC3E}">
        <p14:creationId xmlns:p14="http://schemas.microsoft.com/office/powerpoint/2010/main" val="28681395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CE3AA3-9413-4D2A-6E4A-71E7B5FE3040}"/>
              </a:ext>
            </a:extLst>
          </p:cNvPr>
          <p:cNvSpPr>
            <a:spLocks noGrp="1"/>
          </p:cNvSpPr>
          <p:nvPr>
            <p:ph type="title"/>
          </p:nvPr>
        </p:nvSpPr>
        <p:spPr/>
        <p:txBody>
          <a:bodyPr/>
          <a:lstStyle/>
          <a:p>
            <a:r>
              <a:rPr lang="en-US" dirty="0"/>
              <a:t>Month wise total </a:t>
            </a:r>
            <a:r>
              <a:rPr lang="en-US" dirty="0" err="1"/>
              <a:t>Hrs</a:t>
            </a:r>
            <a:endParaRPr lang="en-IN" dirty="0"/>
          </a:p>
        </p:txBody>
      </p:sp>
      <p:graphicFrame>
        <p:nvGraphicFramePr>
          <p:cNvPr id="7" name="Content Placeholder 6">
            <a:extLst>
              <a:ext uri="{FF2B5EF4-FFF2-40B4-BE49-F238E27FC236}">
                <a16:creationId xmlns:a16="http://schemas.microsoft.com/office/drawing/2014/main" id="{D57EFD85-A8E5-4443-9544-DAFC491D740A}"/>
              </a:ext>
            </a:extLst>
          </p:cNvPr>
          <p:cNvGraphicFramePr>
            <a:graphicFrameLocks noGrp="1"/>
          </p:cNvGraphicFramePr>
          <p:nvPr>
            <p:ph idx="1"/>
            <p:extLst>
              <p:ext uri="{D42A27DB-BD31-4B8C-83A1-F6EECF244321}">
                <p14:modId xmlns:p14="http://schemas.microsoft.com/office/powerpoint/2010/main" val="1178288795"/>
              </p:ext>
            </p:extLst>
          </p:nvPr>
        </p:nvGraphicFramePr>
        <p:xfrm>
          <a:off x="6096000" y="2057400"/>
          <a:ext cx="5059363" cy="3464116"/>
        </p:xfrm>
        <a:graphic>
          <a:graphicData uri="http://schemas.openxmlformats.org/drawingml/2006/chart">
            <c:chart xmlns:c="http://schemas.openxmlformats.org/drawingml/2006/chart" xmlns:r="http://schemas.openxmlformats.org/officeDocument/2006/relationships" r:id="rId2"/>
          </a:graphicData>
        </a:graphic>
      </p:graphicFrame>
      <p:sp>
        <p:nvSpPr>
          <p:cNvPr id="8" name="TextBox 7">
            <a:extLst>
              <a:ext uri="{FF2B5EF4-FFF2-40B4-BE49-F238E27FC236}">
                <a16:creationId xmlns:a16="http://schemas.microsoft.com/office/drawing/2014/main" id="{C7FFE715-5EEA-6A4B-E682-18E997DF6DE4}"/>
              </a:ext>
            </a:extLst>
          </p:cNvPr>
          <p:cNvSpPr txBox="1"/>
          <p:nvPr/>
        </p:nvSpPr>
        <p:spPr>
          <a:xfrm>
            <a:off x="1097280" y="1956816"/>
            <a:ext cx="5059363" cy="1754326"/>
          </a:xfrm>
          <a:prstGeom prst="rect">
            <a:avLst/>
          </a:prstGeom>
          <a:noFill/>
        </p:spPr>
        <p:txBody>
          <a:bodyPr wrap="square" rtlCol="0">
            <a:spAutoFit/>
          </a:bodyPr>
          <a:lstStyle/>
          <a:p>
            <a:pPr marL="285750" indent="-285750">
              <a:buFont typeface="Arial" panose="020B0604020202020204" pitchFamily="34" charset="0"/>
              <a:buChar char="•"/>
            </a:pPr>
            <a:r>
              <a:rPr lang="en-US" dirty="0"/>
              <a:t>A </a:t>
            </a:r>
            <a:r>
              <a:rPr lang="en-US" b="1" dirty="0"/>
              <a:t>pie chart</a:t>
            </a:r>
            <a:r>
              <a:rPr lang="en-US" dirty="0"/>
              <a:t> to show the distribution of total hours between January and February.</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January:</a:t>
            </a:r>
            <a:r>
              <a:rPr lang="en-US" dirty="0"/>
              <a:t> 69% of the total hours recorded.</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b="1" dirty="0"/>
              <a:t>February:</a:t>
            </a:r>
            <a:r>
              <a:rPr lang="en-US" dirty="0"/>
              <a:t> 31% of the total hours recorded.</a:t>
            </a:r>
          </a:p>
        </p:txBody>
      </p:sp>
    </p:spTree>
    <p:extLst>
      <p:ext uri="{BB962C8B-B14F-4D97-AF65-F5344CB8AC3E}">
        <p14:creationId xmlns:p14="http://schemas.microsoft.com/office/powerpoint/2010/main" val="39360323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97F104-37F6-1DE1-9F2A-32CB1BE036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48D478-D00B-CF29-A5DE-17C905E49AE6}"/>
              </a:ext>
            </a:extLst>
          </p:cNvPr>
          <p:cNvSpPr>
            <a:spLocks noGrp="1"/>
          </p:cNvSpPr>
          <p:nvPr>
            <p:ph type="title"/>
          </p:nvPr>
        </p:nvSpPr>
        <p:spPr/>
        <p:txBody>
          <a:bodyPr/>
          <a:lstStyle/>
          <a:p>
            <a:r>
              <a:rPr lang="en-IN" dirty="0"/>
              <a:t>KPIs</a:t>
            </a:r>
          </a:p>
        </p:txBody>
      </p:sp>
      <p:sp>
        <p:nvSpPr>
          <p:cNvPr id="3" name="Content Placeholder 2">
            <a:extLst>
              <a:ext uri="{FF2B5EF4-FFF2-40B4-BE49-F238E27FC236}">
                <a16:creationId xmlns:a16="http://schemas.microsoft.com/office/drawing/2014/main" id="{6B8046BA-FA04-9728-5762-B97823C12F5D}"/>
              </a:ext>
            </a:extLst>
          </p:cNvPr>
          <p:cNvSpPr>
            <a:spLocks noGrp="1"/>
          </p:cNvSpPr>
          <p:nvPr>
            <p:ph idx="1"/>
          </p:nvPr>
        </p:nvSpPr>
        <p:spPr/>
        <p:txBody>
          <a:bodyPr/>
          <a:lstStyle/>
          <a:p>
            <a:r>
              <a:rPr lang="en-US" dirty="0"/>
              <a:t>- </a:t>
            </a:r>
            <a:r>
              <a:rPr lang="en-US" b="1" dirty="0"/>
              <a:t>Avg. Registered (53.38):</a:t>
            </a:r>
            <a:r>
              <a:rPr lang="en-US" dirty="0"/>
              <a:t> This is your primary user base.</a:t>
            </a:r>
          </a:p>
          <a:p>
            <a:r>
              <a:rPr lang="en-US" dirty="0"/>
              <a:t>- </a:t>
            </a:r>
            <a:r>
              <a:rPr lang="en-US" b="1" dirty="0"/>
              <a:t>Avg. Casual (4.92)</a:t>
            </a:r>
            <a:r>
              <a:rPr lang="en-US" dirty="0"/>
              <a:t>: Casual users make up about 8.4% of your total average volume.</a:t>
            </a:r>
            <a:endParaRPr lang="en-IN" dirty="0"/>
          </a:p>
          <a:p>
            <a:r>
              <a:rPr lang="en-US" dirty="0"/>
              <a:t>- </a:t>
            </a:r>
            <a:r>
              <a:rPr lang="en-US" b="1" dirty="0"/>
              <a:t>Avg. Temp (0.2059): </a:t>
            </a:r>
            <a:r>
              <a:rPr lang="en-US" dirty="0"/>
              <a:t>A normalized value representing the overall chilly conditions of the two-month period.</a:t>
            </a:r>
          </a:p>
        </p:txBody>
      </p:sp>
    </p:spTree>
    <p:extLst>
      <p:ext uri="{BB962C8B-B14F-4D97-AF65-F5344CB8AC3E}">
        <p14:creationId xmlns:p14="http://schemas.microsoft.com/office/powerpoint/2010/main" val="41826505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45FEA8-C04C-E5E3-0D89-6FA4DA2D0C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CDF479-79DD-F3A3-BADD-83B78C74F891}"/>
              </a:ext>
            </a:extLst>
          </p:cNvPr>
          <p:cNvSpPr>
            <a:spLocks noGrp="1"/>
          </p:cNvSpPr>
          <p:nvPr>
            <p:ph type="title"/>
          </p:nvPr>
        </p:nvSpPr>
        <p:spPr/>
        <p:txBody>
          <a:bodyPr/>
          <a:lstStyle/>
          <a:p>
            <a:r>
              <a:rPr lang="en-US" dirty="0"/>
              <a:t>Slicer</a:t>
            </a:r>
            <a:endParaRPr lang="en-IN" dirty="0"/>
          </a:p>
        </p:txBody>
      </p:sp>
      <p:sp>
        <p:nvSpPr>
          <p:cNvPr id="3" name="Content Placeholder 2">
            <a:extLst>
              <a:ext uri="{FF2B5EF4-FFF2-40B4-BE49-F238E27FC236}">
                <a16:creationId xmlns:a16="http://schemas.microsoft.com/office/drawing/2014/main" id="{F8F18FC0-BB48-B208-DC74-D467BB72B084}"/>
              </a:ext>
            </a:extLst>
          </p:cNvPr>
          <p:cNvSpPr>
            <a:spLocks noGrp="1"/>
          </p:cNvSpPr>
          <p:nvPr>
            <p:ph idx="1"/>
          </p:nvPr>
        </p:nvSpPr>
        <p:spPr/>
        <p:txBody>
          <a:bodyPr>
            <a:normAutofit/>
          </a:bodyPr>
          <a:lstStyle/>
          <a:p>
            <a:r>
              <a:rPr lang="en-US" b="1" dirty="0"/>
              <a:t>- "Days" Slicer</a:t>
            </a:r>
          </a:p>
          <a:p>
            <a:pPr lvl="1"/>
            <a:r>
              <a:rPr lang="en-US" dirty="0"/>
              <a:t>Both are selected (highlighted in blue), meaning your charts are showing the combined data for the entire week.</a:t>
            </a:r>
          </a:p>
          <a:p>
            <a:pPr lvl="1"/>
            <a:r>
              <a:rPr lang="en-US" dirty="0"/>
              <a:t>If you click only "Weekend," all the charts—including your "Avg. Registered" and "Total </a:t>
            </a:r>
            <a:r>
              <a:rPr lang="en-US" dirty="0" err="1"/>
              <a:t>Hrs</a:t>
            </a:r>
            <a:r>
              <a:rPr lang="en-US" dirty="0"/>
              <a:t>"—will instantly update to show only Saturday and Sunday data.</a:t>
            </a:r>
          </a:p>
          <a:p>
            <a:pPr lvl="1"/>
            <a:endParaRPr lang="en-US" b="1" dirty="0"/>
          </a:p>
          <a:p>
            <a:r>
              <a:rPr lang="en-US" b="1" dirty="0"/>
              <a:t>- "Month" Slicer</a:t>
            </a:r>
          </a:p>
          <a:p>
            <a:pPr lvl="1"/>
            <a:r>
              <a:rPr lang="en-US" dirty="0"/>
              <a:t>Both </a:t>
            </a:r>
            <a:r>
              <a:rPr lang="en-US" b="1" dirty="0"/>
              <a:t>Jan</a:t>
            </a:r>
            <a:r>
              <a:rPr lang="en-US" dirty="0"/>
              <a:t> and </a:t>
            </a:r>
            <a:r>
              <a:rPr lang="en-US" b="1" dirty="0"/>
              <a:t>Feb</a:t>
            </a:r>
            <a:r>
              <a:rPr lang="en-US" dirty="0"/>
              <a:t> are selected.</a:t>
            </a:r>
          </a:p>
          <a:p>
            <a:pPr lvl="1"/>
            <a:r>
              <a:rPr lang="en-US" dirty="0"/>
              <a:t>If you click only “Jan," all the charts—including your "Avg. Registered" and "Total </a:t>
            </a:r>
            <a:r>
              <a:rPr lang="en-US" dirty="0" err="1"/>
              <a:t>Hrs</a:t>
            </a:r>
            <a:r>
              <a:rPr lang="en-US" dirty="0"/>
              <a:t>"—will instantly update to show only Jan month data.</a:t>
            </a:r>
            <a:endParaRPr lang="en-US" b="1" dirty="0"/>
          </a:p>
          <a:p>
            <a:pPr lvl="1"/>
            <a:endParaRPr lang="en-US" b="1" dirty="0"/>
          </a:p>
          <a:p>
            <a:endParaRPr lang="en-US" dirty="0"/>
          </a:p>
        </p:txBody>
      </p:sp>
      <p:pic>
        <p:nvPicPr>
          <p:cNvPr id="5" name="Picture 4">
            <a:extLst>
              <a:ext uri="{FF2B5EF4-FFF2-40B4-BE49-F238E27FC236}">
                <a16:creationId xmlns:a16="http://schemas.microsoft.com/office/drawing/2014/main" id="{B20325AC-5690-2C8F-43C1-AE3BA76BA527}"/>
              </a:ext>
            </a:extLst>
          </p:cNvPr>
          <p:cNvPicPr>
            <a:picLocks noChangeAspect="1"/>
          </p:cNvPicPr>
          <p:nvPr/>
        </p:nvPicPr>
        <p:blipFill>
          <a:blip r:embed="rId2"/>
          <a:stretch>
            <a:fillRect/>
          </a:stretch>
        </p:blipFill>
        <p:spPr>
          <a:xfrm>
            <a:off x="8833104" y="2108201"/>
            <a:ext cx="2590800" cy="3514725"/>
          </a:xfrm>
          <a:prstGeom prst="rect">
            <a:avLst/>
          </a:prstGeom>
        </p:spPr>
      </p:pic>
    </p:spTree>
    <p:extLst>
      <p:ext uri="{BB962C8B-B14F-4D97-AF65-F5344CB8AC3E}">
        <p14:creationId xmlns:p14="http://schemas.microsoft.com/office/powerpoint/2010/main" val="415459120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B4961E7-E547-C6AF-B3D3-EB6C99DAAB43}"/>
            </a:ext>
          </a:extLst>
        </p:cNvPr>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35775E0F-F778-E054-49FA-EC859E71C1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1"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peak Pro" panose="020F0502020204030204"/>
              <a:ea typeface="+mn-ea"/>
              <a:cs typeface="+mn-cs"/>
            </a:endParaRPr>
          </a:p>
        </p:txBody>
      </p:sp>
      <p:sp>
        <p:nvSpPr>
          <p:cNvPr id="2" name="Title 1">
            <a:extLst>
              <a:ext uri="{FF2B5EF4-FFF2-40B4-BE49-F238E27FC236}">
                <a16:creationId xmlns:a16="http://schemas.microsoft.com/office/drawing/2014/main" id="{C37599A0-BD12-0431-0A15-C3D998B9D93B}"/>
              </a:ext>
            </a:extLst>
          </p:cNvPr>
          <p:cNvSpPr>
            <a:spLocks noGrp="1"/>
          </p:cNvSpPr>
          <p:nvPr>
            <p:ph type="ctrTitle"/>
          </p:nvPr>
        </p:nvSpPr>
        <p:spPr>
          <a:xfrm>
            <a:off x="6730000" y="639097"/>
            <a:ext cx="4813072" cy="3494791"/>
          </a:xfrm>
        </p:spPr>
        <p:txBody>
          <a:bodyPr>
            <a:normAutofit/>
          </a:bodyPr>
          <a:lstStyle/>
          <a:p>
            <a:r>
              <a:rPr lang="en-US" dirty="0"/>
              <a:t>Thank You </a:t>
            </a:r>
          </a:p>
        </p:txBody>
      </p:sp>
      <p:sp>
        <p:nvSpPr>
          <p:cNvPr id="3" name="Subtitle 2">
            <a:extLst>
              <a:ext uri="{FF2B5EF4-FFF2-40B4-BE49-F238E27FC236}">
                <a16:creationId xmlns:a16="http://schemas.microsoft.com/office/drawing/2014/main" id="{7AA3FF8F-F6C6-6CB5-0CEA-58BB86C2FB4F}"/>
              </a:ext>
            </a:extLst>
          </p:cNvPr>
          <p:cNvSpPr>
            <a:spLocks noGrp="1"/>
          </p:cNvSpPr>
          <p:nvPr>
            <p:ph type="subTitle" idx="1"/>
          </p:nvPr>
        </p:nvSpPr>
        <p:spPr>
          <a:xfrm>
            <a:off x="6729999" y="4455621"/>
            <a:ext cx="4829101" cy="1238616"/>
          </a:xfrm>
        </p:spPr>
        <p:txBody>
          <a:bodyPr>
            <a:normAutofit/>
          </a:bodyPr>
          <a:lstStyle/>
          <a:p>
            <a:pPr algn="ctr"/>
            <a:r>
              <a:rPr lang="en-US" b="1" dirty="0"/>
              <a:t>Sweety Masmiya</a:t>
            </a:r>
          </a:p>
        </p:txBody>
      </p:sp>
      <p:pic>
        <p:nvPicPr>
          <p:cNvPr id="6" name="Picture 5">
            <a:extLst>
              <a:ext uri="{FF2B5EF4-FFF2-40B4-BE49-F238E27FC236}">
                <a16:creationId xmlns:a16="http://schemas.microsoft.com/office/drawing/2014/main" id="{97E4A86B-2A0E-4293-86E5-901422C1387B}"/>
              </a:ext>
              <a:ext uri="{C183D7F6-B498-43B3-948B-1728B52AA6E4}">
                <adec:decorative xmlns:adec="http://schemas.microsoft.com/office/drawing/2017/decorative" val="1"/>
              </a:ext>
            </a:extLst>
          </p:cNvPr>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 y="10"/>
            <a:ext cx="6096000" cy="6857990"/>
          </a:xfrm>
          <a:prstGeom prst="rect">
            <a:avLst/>
          </a:prstGeom>
        </p:spPr>
      </p:pic>
      <p:cxnSp>
        <p:nvCxnSpPr>
          <p:cNvPr id="26" name="Straight Connector 25">
            <a:extLst>
              <a:ext uri="{FF2B5EF4-FFF2-40B4-BE49-F238E27FC236}">
                <a16:creationId xmlns:a16="http://schemas.microsoft.com/office/drawing/2014/main" id="{A97F3736-D626-DE5C-172A-0ACE7815AE7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805053" y="4294754"/>
            <a:ext cx="4389120" cy="0"/>
          </a:xfrm>
          <a:prstGeom prst="line">
            <a:avLst/>
          </a:prstGeom>
          <a:ln w="1270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75667159"/>
      </p:ext>
    </p:extLst>
  </p:cSld>
  <p:clrMapOvr>
    <a:masterClrMapping/>
  </p:clrMapOvr>
</p:sld>
</file>

<file path=ppt/theme/theme1.xml><?xml version="1.0" encoding="utf-8"?>
<a:theme xmlns:a="http://schemas.openxmlformats.org/drawingml/2006/main" name="RetrospectVTI">
  <a:themeElements>
    <a:clrScheme name="">
      <a:dk1>
        <a:srgbClr val="000000"/>
      </a:dk1>
      <a:lt1>
        <a:srgbClr val="FFFFFF"/>
      </a:lt1>
      <a:dk2>
        <a:srgbClr val="243541"/>
      </a:dk2>
      <a:lt2>
        <a:srgbClr val="E2E5E8"/>
      </a:lt2>
      <a:accent1>
        <a:srgbClr val="E88B33"/>
      </a:accent1>
      <a:accent2>
        <a:srgbClr val="AEA33A"/>
      </a:accent2>
      <a:accent3>
        <a:srgbClr val="8CAB4A"/>
      </a:accent3>
      <a:accent4>
        <a:srgbClr val="57B636"/>
      </a:accent4>
      <a:accent5>
        <a:srgbClr val="2EBA43"/>
      </a:accent5>
      <a:accent6>
        <a:srgbClr val="33B67D"/>
      </a:accent6>
      <a:hlink>
        <a:srgbClr val="5F84A8"/>
      </a:hlink>
      <a:folHlink>
        <a:srgbClr val="7F7F7F"/>
      </a:folHlink>
    </a:clrScheme>
    <a:fontScheme name="Retrospect">
      <a:majorFont>
        <a:latin typeface="Georgia Pro Cond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Speak Pro"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VTI" id="{ABE3C30C-0FC0-4450-828E-52DE70F1BCCB}" vid="{A6E2497D-935A-4CFD-B9FD-6DCB15FA68BF}"/>
    </a:ext>
  </a:extLst>
</a:theme>
</file>

<file path=ppt/theme/themeOverride1.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2.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ppt/theme/themeOverride3.xml><?xml version="1.0" encoding="utf-8"?>
<a:themeOverride xmlns:a="http://schemas.openxmlformats.org/drawingml/2006/main">
  <a:clrScheme name="Custom 40">
    <a:dk1>
      <a:sysClr val="windowText" lastClr="000000"/>
    </a:dk1>
    <a:lt1>
      <a:sysClr val="window" lastClr="FFFFFF"/>
    </a:lt1>
    <a:dk2>
      <a:srgbClr val="545D57"/>
    </a:dk2>
    <a:lt2>
      <a:srgbClr val="EBEBE8"/>
    </a:lt2>
    <a:accent1>
      <a:srgbClr val="579858"/>
    </a:accent1>
    <a:accent2>
      <a:srgbClr val="ED583E"/>
    </a:accent2>
    <a:accent3>
      <a:srgbClr val="D3BA59"/>
    </a:accent3>
    <a:accent4>
      <a:srgbClr val="4C94AC"/>
    </a:accent4>
    <a:accent5>
      <a:srgbClr val="A09E84"/>
    </a:accent5>
    <a:accent6>
      <a:srgbClr val="FC7D4A"/>
    </a:accent6>
    <a:hlink>
      <a:srgbClr val="04A2DA"/>
    </a:hlink>
    <a:folHlink>
      <a:srgbClr val="80808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a410dd7f93c95333ffa1b60ed6adedd1">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a936d9baba76aa3866493feff160faab"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F3CD65D-61A5-43C9-A837-6EC73C7DA8AB}">
  <ds:schemaRefs>
    <ds:schemaRef ds:uri="http://schemas.microsoft.com/office/2006/metadata/properties"/>
    <ds:schemaRef ds:uri="http://schemas.microsoft.com/office/infopath/2007/PartnerControls"/>
    <ds:schemaRef ds:uri="71af3243-3dd4-4a8d-8c0d-dd76da1f02a5"/>
  </ds:schemaRefs>
</ds:datastoreItem>
</file>

<file path=customXml/itemProps2.xml><?xml version="1.0" encoding="utf-8"?>
<ds:datastoreItem xmlns:ds="http://schemas.openxmlformats.org/officeDocument/2006/customXml" ds:itemID="{31F006B4-A9E1-4F39-85C8-FB836F919348}">
  <ds:schemaRefs>
    <ds:schemaRef ds:uri="http://schemas.microsoft.com/sharepoint/v3/contenttype/forms"/>
  </ds:schemaRefs>
</ds:datastoreItem>
</file>

<file path=customXml/itemProps3.xml><?xml version="1.0" encoding="utf-8"?>
<ds:datastoreItem xmlns:ds="http://schemas.openxmlformats.org/officeDocument/2006/customXml" ds:itemID="{16377351-63A1-4C2E-8C9A-66CDD70F16AC}">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{9A02AECF-89AA-493A-B89C-F5C96E3777A7}TF235124e3-e6db-4c6d-93c8-733f2fadbc609fb6f57c_win32-b1e91d96f19e</Template>
  <TotalTime>497</TotalTime>
  <Words>783</Words>
  <Application>Microsoft Office PowerPoint</Application>
  <PresentationFormat>Widescreen</PresentationFormat>
  <Paragraphs>72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Georgia Pro Cond Light</vt:lpstr>
      <vt:lpstr>Speak Pro</vt:lpstr>
      <vt:lpstr>RetrospectVTI</vt:lpstr>
      <vt:lpstr>Dashboard </vt:lpstr>
      <vt:lpstr>Summary</vt:lpstr>
      <vt:lpstr>Day wise temperature and avg.temperature</vt:lpstr>
      <vt:lpstr>Observations</vt:lpstr>
      <vt:lpstr>Day wise total hrs</vt:lpstr>
      <vt:lpstr>Observations</vt:lpstr>
      <vt:lpstr>Month wise temperature</vt:lpstr>
      <vt:lpstr>Observations</vt:lpstr>
      <vt:lpstr>Month wise registered</vt:lpstr>
      <vt:lpstr>Observations</vt:lpstr>
      <vt:lpstr>Month wise total Hrs</vt:lpstr>
      <vt:lpstr>KPIs</vt:lpstr>
      <vt:lpstr>Slicer</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Sweety Masmiya</dc:creator>
  <cp:lastModifiedBy>Sweety Masmiya</cp:lastModifiedBy>
  <cp:revision>16</cp:revision>
  <dcterms:created xsi:type="dcterms:W3CDTF">2026-03-24T06:32:16Z</dcterms:created>
  <dcterms:modified xsi:type="dcterms:W3CDTF">2026-03-24T14:49:56Z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